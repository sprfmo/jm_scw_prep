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JM-WP-BM-01.pdf" TargetMode="External" /><Relationship Id="rId3" Type="http://schemas.openxmlformats.org/officeDocument/2006/relationships/hyperlink" Target="JM-WP-BM-01.docx" TargetMode="External" /><Relationship Id="rId4" Type="http://schemas.openxmlformats.org/officeDocument/2006/relationships/hyperlink" Target="https://sprfmo.github.io/SCW15_report/" TargetMode="External" /><Relationship Id="rId5" Type="http://schemas.openxmlformats.org/officeDocument/2006/relationships/hyperlink" Target="https://doi.org/10.1086/401873" TargetMode="External" /><Relationship Id="rId6" Type="http://schemas.openxmlformats.org/officeDocument/2006/relationships/hyperlink" Target="https://doi.org/10.1006/jmsc.1999.0532" TargetMode="External" /><Relationship Id="rId7" Type="http://schemas.openxmlformats.org/officeDocument/2006/relationships/hyperlink" Target="https://www.iccat.int/Documents/CVSP/CV081_2024/n_2/CV08102149.pdf" TargetMode="External" /><Relationship Id="rId8" Type="http://schemas.openxmlformats.org/officeDocument/2006/relationships/hyperlink" Target="https://doi.org/10.1080/10556788.2011.597854" TargetMode="External" /><Relationship Id="rId9" Type="http://schemas.openxmlformats.org/officeDocument/2006/relationships/hyperlink" Target="https://doi.org/10.1139/f82-157" TargetMode="External" /><Relationship Id="rId10" Type="http://schemas.openxmlformats.org/officeDocument/2006/relationships/hyperlink" Target="https://doi.org/10.1139/f2011-025" TargetMode="External" /><Relationship Id="rId11" Type="http://schemas.openxmlformats.org/officeDocument/2006/relationships/hyperlink" Target="https://doi.org/10.1007/978-1-4615-3598-0" TargetMode="External" /><Relationship Id="rId12" Type="http://schemas.openxmlformats.org/officeDocument/2006/relationships/hyperlink" Target="https://doi.org/10.1093/icesjms/fsq173" TargetMode="External" /><Relationship Id="rId13" Type="http://schemas.openxmlformats.org/officeDocument/2006/relationships/hyperlink" Target="https://doi.org/10.2307/2344614" TargetMode="External" /><Relationship Id="rId14" Type="http://schemas.openxmlformats.org/officeDocument/2006/relationships/hyperlink" Target="https://doi.org/10.1111/faf.12104" TargetMode="External" /><Relationship Id="rId15" Type="http://schemas.openxmlformats.org/officeDocument/2006/relationships/hyperlink" Target="https://doi.org/10.1073/pnas.1820344116" TargetMode="External" /><Relationship Id="rId16" Type="http://schemas.openxmlformats.org/officeDocument/2006/relationships/hyperlink" Target="https://doi.org/10.1139/f95-800" TargetMode="External" /><Relationship Id="rId17" Type="http://schemas.openxmlformats.org/officeDocument/2006/relationships/hyperlink" Target="https://doi.org/10.1111/faf.12579" TargetMode="External" /><Relationship Id="rId18" Type="http://schemas.openxmlformats.org/officeDocument/2006/relationships/hyperlink" Target="https://www.sprfmo.int/assets/Meetings/02-SC/13th-SC-2025/Jack-Mackerel/SC13-JM09-Report-of-the-JMWG-Management-Strategy-Evaluation-Technical-Workshop.pdf" TargetMode="External" /><Relationship Id="rId19" Type="http://schemas.openxmlformats.org/officeDocument/2006/relationships/hyperlink" Target="https://sprfmo.int/assets/Meetings/02-SC/13th-SC-2025/SC13-Report-Annex-11_final.pdf"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Developments of the base SC13 model for benchmark and MSE considerations – SPRFMO Jack Mackerel Working Group</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Developments of the base SC13 model for benchmark and MSE considerations</a:t>
            </a:r>
          </a:p>
          <a:p>
            <a:pPr lvl="0" indent="0" marL="0">
              <a:buNone/>
            </a:pPr>
          </a:p>
          <a:p>
            <a:pPr lvl="0" indent="0" marL="0">
              <a:buNone/>
            </a:pPr>
            <a:r>
              <a:rPr/>
              <a:t>SPRFMO logo</a:t>
            </a:r>
          </a:p>
          <a:p>
            <a:pPr lvl="0" indent="0" marL="0">
              <a:spcBef>
                <a:spcPts val="3000"/>
              </a:spcBef>
              <a:buNone/>
            </a:pPr>
            <a:r>
              <a:rPr b="1"/>
              <a:t>SPRFMO</a:t>
            </a:r>
          </a:p>
          <a:p>
            <a:pPr lvl="0" indent="0" marL="0">
              <a:buNone/>
            </a:pPr>
            <a:r>
              <a:rPr/>
              <a:t>South Pacific Regional Fisheries Management Organisation</a:t>
            </a:r>
          </a:p>
          <a:p>
            <a:pPr lvl="0" indent="0" marL="0">
              <a:buNone/>
            </a:pPr>
            <a:r>
              <a:rPr/>
              <a:t>Jack Mackerel Working Group</a:t>
            </a:r>
          </a:p>
          <a:p>
            <a:pPr lvl="0" indent="0" marL="0">
              <a:buNone/>
            </a:pPr>
            <a:r>
              <a:rPr/>
              <a:t>Working paper JM-WP-BM-01</a:t>
            </a:r>
          </a:p>
          <a:p>
            <a:pPr lvl="0" indent="0" marL="0">
              <a:buNone/>
            </a:pPr>
            <a:r>
              <a:rPr>
                <a:hlinkClick r:id="rId2"/>
              </a:rPr>
              <a:t>PDF-rendered version</a:t>
            </a:r>
            <a:r>
              <a:rPr/>
              <a:t> | </a:t>
            </a:r>
            <a:r>
              <a:rPr>
                <a:hlinkClick r:id="rId3"/>
              </a:rPr>
              <a:t>MS Word version</a:t>
            </a:r>
          </a:p>
          <a:p>
            <a:pPr lvl="0" indent="0" marL="0">
              <a:buNone/>
            </a:pPr>
            <a:r>
              <a:rPr/>
              <a:t>Extension of the base (SC13) models for benchmark and MSE considerations</a:t>
            </a:r>
          </a:p>
          <a:p>
            <a:pPr lvl="0" indent="0" marL="0">
              <a:spcBef>
                <a:spcPts val="3000"/>
              </a:spcBef>
              <a:buNone/>
            </a:pPr>
            <a:r>
              <a:rPr b="1"/>
              <a:t>Abstract</a:t>
            </a:r>
          </a:p>
          <a:p>
            <a:pPr lvl="0" indent="0" marL="0">
              <a:buNone/>
            </a:pPr>
            <a:r>
              <a:rPr/>
              <a:t>This working paper documents the base SC13 jack mackerel assessment model used for advice under the single-stock and two-stock hypotheses, corresponding to model configurations </a:t>
            </a:r>
            <a:r>
              <a:rPr>
                <a:latin typeface="Courier"/>
              </a:rPr>
              <a:t>h1_1.14</a:t>
            </a:r>
            <a:r>
              <a:rPr/>
              <a:t> and </a:t>
            </a:r>
            <a:r>
              <a:rPr>
                <a:latin typeface="Courier"/>
              </a:rPr>
              <a:t>h2_1.14</a:t>
            </a:r>
            <a:r>
              <a:rPr/>
              <a:t>. The paper is intended as a bridge between the full technical annex and a future management strategy evaluation (MSE) framework. Its specific purpose is to describe the Joint Jack Mackerel Model (JJM) as implemented for SC13, identify the principal differences between the two advice models, and define a starting point for evaluating simplified alternatives.</a:t>
            </a:r>
          </a:p>
          <a:p>
            <a:pPr lvl="0" indent="0" marL="0">
              <a:buNone/>
            </a:pPr>
            <a:r>
              <a:rPr/>
              <a:t>The immediate justification for beginning this work is to avoid carrying into MSE several complicated features that were identified during the </a:t>
            </a:r>
            <a:r>
              <a:rPr>
                <a:hlinkClick r:id="rId4"/>
              </a:rPr>
              <a:t>July 2025 MSE workshop</a:t>
            </a:r>
            <a:r>
              <a:rPr/>
              <a:t>. These include extensive time-varying selectivity, dynamic reference points that depend on terminal-year model conditions, and projection assumptions that differ from the assumptions used during model fitting. The SC13 base model therefore serves here as the reference assessment formulation from which reduced alternatives can be developed and tested.</a:t>
            </a:r>
          </a:p>
          <a:p>
            <a:pPr lvl="0" indent="0" marL="0">
              <a:buNone/>
            </a:pPr>
            <a:r>
              <a:rPr i="1"/>
              <a:t>This revision incorporates comments from Iago Mosqueira (IPSC/JRC) on selectivity uncertainty, index influence, recruitment regimes, reference point consistency, and northern stock harmonization. Reviewer observations appear in callout boxes throughout Section 6.</a:t>
            </a:r>
          </a:p>
          <a:p>
            <a:pPr lvl="0" indent="0" marL="0">
              <a:spcBef>
                <a:spcPts val="3000"/>
              </a:spcBef>
              <a:buNone/>
            </a:pPr>
            <a:r>
              <a:rPr b="1"/>
              <a:t>1 Introduction</a:t>
            </a:r>
          </a:p>
          <a:p>
            <a:pPr lvl="0" indent="0" marL="0">
              <a:buNone/>
            </a:pPr>
            <a:r>
              <a:rPr/>
              <a:t>The Joint Jack Mackerel Model has been the core age-structured assessment framework used by SPRFMO for jack mackerel over a series of annual updates and technical workshops. In general terms, the model belongs to the class of forward-projecting statistical catch-at-age models developed for fisheries assessment, with estimated population dynamics linked to catch, abundance indices, and composition data through a likelihood-based framework (D. Fournier &amp; Archibald, 1982; Hilborn &amp; Walters, 1992). The broader modelling approach also depends on standard growth and generalized linear model concepts used throughout fisheries science (Bertalanffy, 1957; McCullagh &amp; Nelder, 1989; Nelder &amp; Wedderburn, 1972).</a:t>
            </a:r>
          </a:p>
          <a:p>
            <a:pPr lvl="0" indent="0" marL="0">
              <a:buNone/>
            </a:pPr>
            <a:r>
              <a:rPr/>
              <a:t>The formal technical reference for the accepted SC13 assessment remains Annex 11 of the SC13 report, the Jack Mackerel Technical Annex (SPRFMO Scientific Committee, 2025).</a:t>
            </a:r>
          </a:p>
          <a:p>
            <a:pPr lvl="0" indent="0" marL="0">
              <a:buNone/>
            </a:pPr>
            <a:r>
              <a:rPr/>
              <a:t>Within the present repository, the SC13 assessment update is represented by model series </a:t>
            </a:r>
            <a:r>
              <a:rPr>
                <a:latin typeface="Courier"/>
              </a:rPr>
              <a:t>1.14</a:t>
            </a:r>
            <a:r>
              <a:rPr/>
              <a:t>. The file </a:t>
            </a:r>
            <a:r>
              <a:rPr>
                <a:latin typeface="Courier"/>
              </a:rPr>
              <a:t>assessment/README.md</a:t>
            </a:r>
            <a:r>
              <a:rPr/>
              <a:t> documents the sequence of changes leading to this configuration. In summary, the 2025 assessment update began with a base update to data and model structure (</a:t>
            </a:r>
            <a:r>
              <a:rPr>
                <a:latin typeface="Courier"/>
              </a:rPr>
              <a:t>1.00</a:t>
            </a:r>
            <a:r>
              <a:rPr/>
              <a:t>) and then proceeded through a sequence of modifications affecting 2025 selectivity, weighting of 2025 age compositions, downweighting of early years of the northern Chile acoustic index, and historical weight-at-age for the Far North fleet. The final advice models were fitted under both stock hypotheses: </a:t>
            </a:r>
            <a:r>
              <a:rPr>
                <a:latin typeface="Courier"/>
              </a:rPr>
              <a:t>h1_1.14</a:t>
            </a:r>
            <a:r>
              <a:rPr/>
              <a:t> for the single-stock hypothesis and </a:t>
            </a:r>
            <a:r>
              <a:rPr>
                <a:latin typeface="Courier"/>
              </a:rPr>
              <a:t>h2_1.14</a:t>
            </a:r>
            <a:r>
              <a:rPr/>
              <a:t> for the two-stock hypothesis.</a:t>
            </a:r>
          </a:p>
          <a:p>
            <a:pPr lvl="0" indent="0" marL="0">
              <a:buNone/>
            </a:pPr>
            <a:r>
              <a:rPr/>
              <a:t>The motivation for documenting these models in a separate working paper is practical. MSE is most useful when the operating model and the management procedure are both transparent, interpretable, and robust to the major uncertainties that matter for management (Butterworth &amp; Punt, 1999; Punt et al., 2016; Siple et al., 2021). The July 2025 MSE workshop concluded that direct transfer of the full SC13 assessment structure into MSE would likely import avoidable complexity. This paper therefore treats </a:t>
            </a:r>
            <a:r>
              <a:rPr>
                <a:latin typeface="Courier"/>
              </a:rPr>
              <a:t>h1_1.14</a:t>
            </a:r>
            <a:r>
              <a:rPr/>
              <a:t> and </a:t>
            </a:r>
            <a:r>
              <a:rPr>
                <a:latin typeface="Courier"/>
              </a:rPr>
              <a:t>h2_1.14</a:t>
            </a:r>
            <a:r>
              <a:rPr/>
              <a:t> as the base assessment formulations that must first be documented clearly before any simplification is attempted.</a:t>
            </a:r>
          </a:p>
          <a:p>
            <a:pPr lvl="0" indent="0" marL="0">
              <a:spcBef>
                <a:spcPts val="3000"/>
              </a:spcBef>
              <a:buNone/>
            </a:pPr>
            <a:r>
              <a:rPr b="1"/>
              <a:t>2 Materials Used for This Paper</a:t>
            </a:r>
          </a:p>
          <a:p>
            <a:pPr lvl="0" indent="0" marL="0">
              <a:buNone/>
            </a:pPr>
            <a:r>
              <a:rPr/>
              <a:t>This paper is based on the contents of the assessment directory, with the following files providing the main technical basis for the description:</a:t>
            </a:r>
          </a:p>
          <a:p>
            <a:pPr lvl="0" indent="-342900" marL="342900">
              <a:buAutoNum type="arabicPeriod"/>
            </a:pPr>
            <a:r>
              <a:rPr>
                <a:latin typeface="Courier"/>
              </a:rPr>
              <a:t>assessment/README.md</a:t>
            </a:r>
            <a:r>
              <a:rPr/>
              <a:t>, which documents the model progression to SC13;</a:t>
            </a:r>
          </a:p>
          <a:p>
            <a:pPr lvl="0" indent="-342900" marL="342900">
              <a:buAutoNum type="arabicPeriod"/>
            </a:pPr>
            <a:r>
              <a:rPr>
                <a:latin typeface="Courier"/>
              </a:rPr>
              <a:t>doc/annex/annex_text.qmd</a:t>
            </a:r>
            <a:r>
              <a:rPr/>
              <a:t>, which contains the technical annex narrative;</a:t>
            </a:r>
          </a:p>
          <a:p>
            <a:pPr lvl="0" indent="-342900" marL="342900">
              <a:buAutoNum type="arabicPeriod"/>
            </a:pPr>
            <a:r>
              <a:rPr>
                <a:latin typeface="Courier"/>
              </a:rPr>
              <a:t>assessment/R/SC13.rmd</a:t>
            </a:r>
            <a:r>
              <a:rPr/>
              <a:t>, which records the SC13 update process and the rationale for the final model;</a:t>
            </a:r>
          </a:p>
          <a:p>
            <a:pPr lvl="0" indent="-342900" marL="342900">
              <a:buAutoNum type="arabicPeriod"/>
            </a:pPr>
            <a:r>
              <a:rPr>
                <a:latin typeface="Courier"/>
              </a:rPr>
              <a:t>assessment/R/run_projections.R</a:t>
            </a:r>
            <a:r>
              <a:rPr/>
              <a:t>, which records the projection logic applied to the base model;</a:t>
            </a:r>
          </a:p>
          <a:p>
            <a:pPr lvl="0" indent="-342900" marL="342900">
              <a:buAutoNum type="arabicPeriod"/>
            </a:pPr>
            <a:r>
              <a:rPr>
                <a:latin typeface="Courier"/>
              </a:rPr>
              <a:t>assessment/input/1.14.dat</a:t>
            </a:r>
            <a:r>
              <a:rPr/>
              <a:t>, the common data file used by both stock hypotheses;</a:t>
            </a:r>
          </a:p>
          <a:p>
            <a:pPr lvl="0" indent="-342900" marL="342900">
              <a:buAutoNum type="arabicPeriod"/>
            </a:pPr>
            <a:r>
              <a:rPr>
                <a:latin typeface="Courier"/>
              </a:rPr>
              <a:t>assessment/config/h1_1.14.ctl</a:t>
            </a:r>
            <a:r>
              <a:rPr/>
              <a:t> and </a:t>
            </a:r>
            <a:r>
              <a:rPr>
                <a:latin typeface="Courier"/>
              </a:rPr>
              <a:t>assessment/config/h2_1.14.ctl</a:t>
            </a:r>
            <a:r>
              <a:rPr/>
              <a:t>, which define the stock-specific control structures;</a:t>
            </a:r>
          </a:p>
          <a:p>
            <a:pPr lvl="0" indent="-342900" marL="342900">
              <a:buAutoNum type="arabicPeriod"/>
            </a:pPr>
            <a:r>
              <a:rPr>
                <a:latin typeface="Courier"/>
              </a:rPr>
              <a:t>assessment/results/h1_1.14.rep</a:t>
            </a:r>
            <a:r>
              <a:rPr/>
              <a:t> and </a:t>
            </a:r>
            <a:r>
              <a:rPr>
                <a:latin typeface="Courier"/>
              </a:rPr>
              <a:t>assessment/results/h2_1.14.rep</a:t>
            </a:r>
            <a:r>
              <a:rPr/>
              <a:t>, which summarize fitted model outputs and likelihood components.</a:t>
            </a:r>
          </a:p>
          <a:p>
            <a:pPr lvl="0" indent="0" marL="0">
              <a:buNone/>
            </a:pPr>
            <a:r>
              <a:rPr/>
              <a:t>The objective here is not to reproduce every detail already contained in the annex. Rather, the objective is to extract from those materials a concise but technically defensible description of the SC13 base model for later MSE use.</a:t>
            </a:r>
          </a:p>
          <a:p>
            <a:pPr lvl="0" indent="0" marL="0">
              <a:spcBef>
                <a:spcPts val="3000"/>
              </a:spcBef>
              <a:buNone/>
            </a:pPr>
            <a:r>
              <a:rPr b="1"/>
              <a:t>3 General Structure of the JJM Used for SC13</a:t>
            </a:r>
          </a:p>
          <a:p>
            <a:pPr lvl="0" indent="0" marL="0">
              <a:spcBef>
                <a:spcPts val="3000"/>
              </a:spcBef>
              <a:buNone/>
            </a:pPr>
            <a:r>
              <a:rPr b="1"/>
              <a:t>3.1 Overview</a:t>
            </a:r>
          </a:p>
          <a:p>
            <a:pPr lvl="0" indent="0" marL="0">
              <a:buNone/>
            </a:pPr>
            <a:r>
              <a:rPr/>
              <a:t>The annex describes the JJM as an explicitly age-structured forward projection model estimated by maximum likelihood. That places it firmly within the standard family of integrated fisheries assessment models derived from statistical catch-at-age theory (D. Fournier &amp; Archibald, 1982; Schnute &amp; Richards, 1995). In practical implementation, the JJM is also a highly parameterized nonlinear model fitted through AD Model Builder, which is consistent with the long use of ADMB in stock assessment applications (D. A. Fournier et al., 2012).</a:t>
            </a:r>
          </a:p>
          <a:p>
            <a:pPr lvl="0" indent="0" marL="0">
              <a:buNone/>
            </a:pPr>
            <a:r>
              <a:rPr/>
              <a:t>For SC13, the model is run over years 1970-2025 and ages 1-12. The common data file </a:t>
            </a:r>
            <a:r>
              <a:rPr>
                <a:latin typeface="Courier"/>
              </a:rPr>
              <a:t>assessment/input/1.14.dat</a:t>
            </a:r>
            <a:r>
              <a:rPr/>
              <a:t> specifies four fishery fleets, seven abundance indices, age-composition observations for multiple fisheries and surveys, length compositions for the Far North fleet, annual catches by fleet, and weight-at-age schedules used in both fishery and survey components. The control files then assign those data to either one or two modeled stocks depending on the hypothesis being fitted.</a:t>
            </a:r>
          </a:p>
          <a:p>
            <a:pPr lvl="0" indent="0" marL="0">
              <a:spcBef>
                <a:spcPts val="3000"/>
              </a:spcBef>
              <a:buNone/>
            </a:pPr>
            <a:r>
              <a:rPr b="1"/>
              <a:t>3.2 Data Structure</a:t>
            </a:r>
          </a:p>
          <a:p>
            <a:pPr lvl="0" indent="0" marL="0">
              <a:buNone/>
            </a:pPr>
            <a:r>
              <a:rPr/>
              <a:t>The SC13 base data set contains four fleets:</a:t>
            </a:r>
          </a:p>
          <a:p>
            <a:pPr lvl="0" indent="-342900" marL="342900">
              <a:buAutoNum type="arabicPeriod"/>
            </a:pPr>
            <a:r>
              <a:rPr>
                <a:latin typeface="Courier"/>
              </a:rPr>
              <a:t>N_Chile</a:t>
            </a:r>
            <a:r>
              <a:rPr/>
              <a:t>;</a:t>
            </a:r>
          </a:p>
          <a:p>
            <a:pPr lvl="0" indent="-342900" marL="342900">
              <a:buAutoNum type="arabicPeriod"/>
            </a:pPr>
            <a:r>
              <a:rPr>
                <a:latin typeface="Courier"/>
              </a:rPr>
              <a:t>SC_Chile_PS</a:t>
            </a:r>
            <a:r>
              <a:rPr/>
              <a:t>;</a:t>
            </a:r>
          </a:p>
          <a:p>
            <a:pPr lvl="0" indent="-342900" marL="342900">
              <a:buAutoNum type="arabicPeriod"/>
            </a:pPr>
            <a:r>
              <a:rPr>
                <a:latin typeface="Courier"/>
              </a:rPr>
              <a:t>FarNorth</a:t>
            </a:r>
            <a:r>
              <a:rPr/>
              <a:t>;</a:t>
            </a:r>
          </a:p>
          <a:p>
            <a:pPr lvl="0" indent="-342900" marL="342900">
              <a:buAutoNum type="arabicPeriod"/>
            </a:pPr>
            <a:r>
              <a:rPr>
                <a:latin typeface="Courier"/>
              </a:rPr>
              <a:t>Offshore_Trawl</a:t>
            </a:r>
            <a:r>
              <a:rPr/>
              <a:t>.</a:t>
            </a:r>
          </a:p>
          <a:p>
            <a:pPr lvl="0" indent="0" marL="0">
              <a:buNone/>
            </a:pPr>
            <a:r>
              <a:rPr/>
              <a:t>The composition data structure differs by fleet. Age compositions are used for </a:t>
            </a:r>
            <a:r>
              <a:rPr>
                <a:latin typeface="Courier"/>
              </a:rPr>
              <a:t>N_Chile</a:t>
            </a:r>
            <a:r>
              <a:rPr/>
              <a:t>, </a:t>
            </a:r>
            <a:r>
              <a:rPr>
                <a:latin typeface="Courier"/>
              </a:rPr>
              <a:t>SC_Chile_PS</a:t>
            </a:r>
            <a:r>
              <a:rPr/>
              <a:t>, and </a:t>
            </a:r>
            <a:r>
              <a:rPr>
                <a:latin typeface="Courier"/>
              </a:rPr>
              <a:t>Offshore_Trawl</a:t>
            </a:r>
            <a:r>
              <a:rPr/>
              <a:t>, while the </a:t>
            </a:r>
            <a:r>
              <a:rPr>
                <a:latin typeface="Courier"/>
              </a:rPr>
              <a:t>FarNorth</a:t>
            </a:r>
            <a:r>
              <a:rPr/>
              <a:t> fleet is fitted to length compositions through the modelled growth relationship. The file </a:t>
            </a:r>
            <a:r>
              <a:rPr>
                <a:latin typeface="Courier"/>
              </a:rPr>
              <a:t>assessment/input/1.14.dat</a:t>
            </a:r>
            <a:r>
              <a:rPr/>
              <a:t> indicates that age-composition observations extend from 1980-2025 for the Chilean fleets and 2015-2025 for the offshore fleet, while length-composition observations are available for the Far North fleet from 1980-2025.</a:t>
            </a:r>
          </a:p>
          <a:p>
            <a:pPr lvl="0" indent="0" marL="0">
              <a:buNone/>
            </a:pPr>
            <a:r>
              <a:rPr/>
              <a:t>The same data file also includes seven abundance indices:</a:t>
            </a:r>
          </a:p>
          <a:p>
            <a:pPr lvl="0" indent="-342900" marL="342900">
              <a:buAutoNum type="arabicPeriod"/>
            </a:pPr>
            <a:r>
              <a:rPr>
                <a:latin typeface="Courier"/>
              </a:rPr>
              <a:t>Chile_AcousCS</a:t>
            </a:r>
            <a:r>
              <a:rPr/>
              <a:t>;</a:t>
            </a:r>
          </a:p>
          <a:p>
            <a:pPr lvl="0" indent="-342900" marL="342900">
              <a:buAutoNum type="arabicPeriod"/>
            </a:pPr>
            <a:r>
              <a:rPr>
                <a:latin typeface="Courier"/>
              </a:rPr>
              <a:t>Chile_AcousN</a:t>
            </a:r>
            <a:r>
              <a:rPr/>
              <a:t>;</a:t>
            </a:r>
          </a:p>
          <a:p>
            <a:pPr lvl="0" indent="-342900" marL="342900">
              <a:buAutoNum type="arabicPeriod"/>
            </a:pPr>
            <a:r>
              <a:rPr>
                <a:latin typeface="Courier"/>
              </a:rPr>
              <a:t>Chile_CPUE</a:t>
            </a:r>
            <a:r>
              <a:rPr/>
              <a:t>;</a:t>
            </a:r>
          </a:p>
          <a:p>
            <a:pPr lvl="0" indent="-342900" marL="342900">
              <a:buAutoNum type="arabicPeriod"/>
            </a:pPr>
            <a:r>
              <a:rPr>
                <a:latin typeface="Courier"/>
              </a:rPr>
              <a:t>DEPM</a:t>
            </a:r>
            <a:r>
              <a:rPr/>
              <a:t>;</a:t>
            </a:r>
          </a:p>
          <a:p>
            <a:pPr lvl="0" indent="-342900" marL="342900">
              <a:buAutoNum type="arabicPeriod"/>
            </a:pPr>
            <a:r>
              <a:rPr>
                <a:latin typeface="Courier"/>
              </a:rPr>
              <a:t>Peru_Acoustic</a:t>
            </a:r>
            <a:r>
              <a:rPr/>
              <a:t>;</a:t>
            </a:r>
          </a:p>
          <a:p>
            <a:pPr lvl="0" indent="-342900" marL="342900">
              <a:buAutoNum type="arabicPeriod"/>
            </a:pPr>
            <a:r>
              <a:rPr>
                <a:latin typeface="Courier"/>
              </a:rPr>
              <a:t>Peru_CPUE</a:t>
            </a:r>
            <a:r>
              <a:rPr/>
              <a:t>;</a:t>
            </a:r>
          </a:p>
          <a:p>
            <a:pPr lvl="0" indent="-342900" marL="342900">
              <a:buAutoNum type="arabicPeriod"/>
            </a:pPr>
            <a:r>
              <a:rPr>
                <a:latin typeface="Courier"/>
              </a:rPr>
              <a:t>Offshore_CPUE</a:t>
            </a:r>
            <a:r>
              <a:rPr/>
              <a:t>.</a:t>
            </a:r>
          </a:p>
          <a:p>
            <a:pPr lvl="0" indent="0" marL="0">
              <a:buNone/>
            </a:pPr>
            <a:r>
              <a:rPr/>
              <a:t>This is therefore not a sparse index-only assessment. It is a fully integrated model in which trends in biomass and recruitment are informed simultaneously by catch, multiple abundance indices, and composition data, with the latter carrying substantial influence over selectivity and year-class interpretation. The use of composition data at this level also means that weighting, effective sample size, and selectivity specification become major determinants of fit and inference (Francis, 2011).</a:t>
            </a:r>
          </a:p>
          <a:p>
            <a:pPr lvl="0" indent="0" marL="0">
              <a:spcBef>
                <a:spcPts val="3000"/>
              </a:spcBef>
              <a:buNone/>
            </a:pPr>
            <a:r>
              <a:rPr b="1"/>
              <a:t>3.3 Population Dynamics and Observation Model</a:t>
            </a:r>
          </a:p>
          <a:p>
            <a:pPr lvl="0" indent="0" marL="0">
              <a:buNone/>
            </a:pPr>
            <a:r>
              <a:rPr/>
              <a:t>The annex and control files together indicate a standard age-structured population dynamic framework with stock recruitment, natural mortality, growth, maturity, fleet selectivity, survey selectivity, and catchability. The growth component follows the usual fisheries implementation of the von Bertalanffy growth relationship (Bertalanffy, 1957; Beverton &amp; Holt, 1957). The Far North fleet is modelled through predicted length compositions derived from the age-structured population and the specified growth schedule.</a:t>
            </a:r>
          </a:p>
          <a:p>
            <a:pPr lvl="0" indent="0" marL="0">
              <a:buNone/>
            </a:pPr>
            <a:r>
              <a:rPr/>
              <a:t>Selectivity is an especially important feature of the SC13 implementation. The annex describes selectivity as non-parametric, fishery-specific, and time-varying. The control files confirm this, showing fleet-specific selectivity structures, annual or block changes by fleet, and selectivity penalties applied to both fisheries and surveys. Time-varying selectivity is a familiar response to changes in fishery behavior and sampling structure, but it is also known to complicate interpretation in catch-at-age assessments (Linton &amp; Bence, 2011).</a:t>
            </a:r>
          </a:p>
          <a:p>
            <a:pPr lvl="0" indent="0" marL="0">
              <a:buNone/>
            </a:pPr>
            <a:r>
              <a:rPr/>
              <a:t>Catchability is index-specific and includes shared settings across the two hypotheses. The annex further notes that standardized CPUE series include explicit assumptions about efficiency creep, consistent with broader literature on fleet evolution and changing fishing power (Rousseau et al., 2019).</a:t>
            </a:r>
          </a:p>
          <a:p>
            <a:pPr lvl="0" indent="0" marL="0">
              <a:buNone/>
            </a:pPr>
            <a:r>
              <a:rPr/>
              <a:t>A compact mathematical summary of the core model structure is provided in the appendix so that the main text can stay focused on the SC13 implementation choices rather than on notation.</a:t>
            </a:r>
          </a:p>
          <a:p>
            <a:pPr lvl="0" indent="0" marL="0">
              <a:spcBef>
                <a:spcPts val="3000"/>
              </a:spcBef>
              <a:buNone/>
            </a:pPr>
            <a:r>
              <a:rPr b="1"/>
              <a:t>3.4 Reference Points and Projections</a:t>
            </a:r>
          </a:p>
          <a:p>
            <a:pPr lvl="0" indent="0" marL="0">
              <a:buNone/>
            </a:pPr>
            <a:r>
              <a:rPr/>
              <a:t>The SC13 annex states that </a:t>
            </a:r>
            <a:r>
              <a:rPr>
                <a:latin typeface="Courier"/>
              </a:rPr>
              <a:t>MSY</a:t>
            </a:r>
            <a:r>
              <a:rPr/>
              <a:t>, </a:t>
            </a:r>
            <a:r>
              <a:rPr>
                <a:latin typeface="Courier"/>
              </a:rPr>
              <a:t>FMSY</a:t>
            </a:r>
            <a:r>
              <a:rPr/>
              <a:t>, and </a:t>
            </a:r>
            <a:r>
              <a:rPr>
                <a:latin typeface="Courier"/>
              </a:rPr>
              <a:t>BMSY</a:t>
            </a:r>
            <a:r>
              <a:rPr/>
              <a:t> are calculated internally within the JJM using equilibrium calculations based on terminal-year catch shares, selectivity-at-age, and weights-at-age. Accordingly, these reference points are dynamic rather than fixed. The annex also notes that recent advice has used a ten-year average of model-estimated </a:t>
            </a:r>
            <a:r>
              <a:rPr>
                <a:latin typeface="Courier"/>
              </a:rPr>
              <a:t>BMSY</a:t>
            </a:r>
            <a:r>
              <a:rPr/>
              <a:t> as the reference biomass quantity for comparison.</a:t>
            </a:r>
          </a:p>
          <a:p>
            <a:pPr lvl="0" indent="0" marL="0">
              <a:buNone/>
            </a:pPr>
            <a:r>
              <a:rPr/>
              <a:t>The projection scripts in </a:t>
            </a:r>
            <a:r>
              <a:rPr>
                <a:latin typeface="Courier"/>
              </a:rPr>
              <a:t>assessment/R/run_projections.R</a:t>
            </a:r>
            <a:r>
              <a:rPr/>
              <a:t> add a second layer of structure. Future projections are conducted using fixed terminal selectivity and, for the </a:t>
            </a:r>
            <a:r>
              <a:rPr>
                <a:latin typeface="Courier"/>
              </a:rPr>
              <a:t>.ls</a:t>
            </a:r>
            <a:r>
              <a:rPr/>
              <a:t> alternatives, a shorter and more conservative recruitment history. This means the advice process combines a fitted assessment model with a somewhat different projection model. That approach is defensible in annual advice, but it is exactly the kind of multi-stage complexity that MSE seeks to simplify and evaluate explicitly (Punt et al., 2016; Siple et al., 2021).</a:t>
            </a:r>
          </a:p>
          <a:p>
            <a:pPr lvl="0" indent="0" marL="0">
              <a:spcBef>
                <a:spcPts val="3000"/>
              </a:spcBef>
              <a:buNone/>
            </a:pPr>
            <a:r>
              <a:rPr b="1"/>
              <a:t>4 The SC13 Base Advice Models</a:t>
            </a:r>
          </a:p>
          <a:p>
            <a:pPr lvl="0" indent="0" marL="0">
              <a:spcBef>
                <a:spcPts val="3000"/>
              </a:spcBef>
              <a:buNone/>
            </a:pPr>
            <a:r>
              <a:rPr b="1"/>
              <a:t>4.1 Single-Stock Hypothesis: </a:t>
            </a:r>
            <a:r>
              <a:rPr b="1">
                <a:latin typeface="Courier"/>
              </a:rPr>
              <a:t>h1_1.14</a:t>
            </a:r>
          </a:p>
          <a:p>
            <a:pPr lvl="0" indent="0" marL="0">
              <a:buNone/>
            </a:pPr>
            <a:r>
              <a:rPr/>
              <a:t>The control file </a:t>
            </a:r>
            <a:r>
              <a:rPr>
                <a:latin typeface="Courier"/>
              </a:rPr>
              <a:t>assessment/config/h1_1.14.ctl</a:t>
            </a:r>
            <a:r>
              <a:rPr/>
              <a:t> defines the single-stock advice model. It specifies one stock, one recruitment regime, one maturity schedule, one population weight-at-age schedule, and a single natural mortality value of 0.28. The stock recruitment component uses steepness 0.65 and recruitment variability 0.6, with recruitment years 2000-2022 entering the stock recruitment specification.</a:t>
            </a:r>
          </a:p>
          <a:p>
            <a:pPr lvl="0" indent="0" marL="0">
              <a:buNone/>
            </a:pPr>
            <a:r>
              <a:rPr/>
              <a:t>From a structural point of view, </a:t>
            </a:r>
            <a:r>
              <a:rPr>
                <a:latin typeface="Courier"/>
              </a:rPr>
              <a:t>h1_1.14</a:t>
            </a:r>
            <a:r>
              <a:rPr/>
              <a:t> is the simpler of the two advice models. All fishery and survey information is interpreted as informing a common population. However, the model still retains considerable complexity because selectivity is allowed to vary over time and because the Far North fleet is represented with annual selectivity changes extending back to 1981. In effect, the single-stock hypothesis avoids stock splitting but compensates with a flexible fleet-history interpretation.</a:t>
            </a:r>
          </a:p>
          <a:p>
            <a:pPr lvl="0" indent="0" marL="0">
              <a:buNone/>
            </a:pPr>
            <a:r>
              <a:rPr/>
              <a:t>The fitted report file indicates that the model is strongly informed by composition and selectivity components. The total objective function reported in </a:t>
            </a:r>
            <a:r>
              <a:rPr>
                <a:latin typeface="Courier"/>
              </a:rPr>
              <a:t>assessment/results/h1_1.14.rep</a:t>
            </a:r>
            <a:r>
              <a:rPr/>
              <a:t> is 1323.82, with large contributions from fishery age likelihood, fishery length likelihood, fishery selectivity penalties, index likelihood, and survey age likelihood. This confirms that </a:t>
            </a:r>
            <a:r>
              <a:rPr>
                <a:latin typeface="Courier"/>
              </a:rPr>
              <a:t>h1_1.14</a:t>
            </a:r>
            <a:r>
              <a:rPr/>
              <a:t> should not be viewed as a simplified baseline in itself. It is already a sophisticated assessment model.</a:t>
            </a:r>
          </a:p>
          <a:p>
            <a:pPr lvl="0" indent="0" marL="0">
              <a:spcBef>
                <a:spcPts val="3000"/>
              </a:spcBef>
              <a:buNone/>
            </a:pPr>
            <a:r>
              <a:rPr b="1"/>
              <a:t>4.2 Two-Stock Hypothesis: </a:t>
            </a:r>
            <a:r>
              <a:rPr b="1">
                <a:latin typeface="Courier"/>
              </a:rPr>
              <a:t>h2_1.14</a:t>
            </a:r>
          </a:p>
          <a:p>
            <a:pPr lvl="0" indent="0" marL="0">
              <a:buNone/>
            </a:pPr>
            <a:r>
              <a:rPr/>
              <a:t>The control file </a:t>
            </a:r>
            <a:r>
              <a:rPr>
                <a:latin typeface="Courier"/>
              </a:rPr>
              <a:t>assessment/config/h2_1.14.ctl</a:t>
            </a:r>
            <a:r>
              <a:rPr/>
              <a:t> defines the two-stock advice model. It specifies two stocks, a more complex recruitment assignment, stock-specific biology for the second stock, and different treatment of the Far North observations. In the terminology used in the annex, the two stocks correspond to a southern stock and a far north stock.</a:t>
            </a:r>
          </a:p>
          <a:p>
            <a:pPr lvl="0" indent="0" marL="0">
              <a:buNone/>
            </a:pPr>
            <a:r>
              <a:rPr/>
              <a:t>The most consequential structural difference lies in recruitment and biological assignment. The two-stock control file specifies </a:t>
            </a:r>
            <a:r>
              <a:rPr>
                <a:latin typeface="Courier"/>
              </a:rPr>
              <a:t>nregbyStock = 1 2</a:t>
            </a:r>
            <a:r>
              <a:rPr/>
              <a:t>, </a:t>
            </a:r>
            <a:r>
              <a:rPr>
                <a:latin typeface="Courier"/>
              </a:rPr>
              <a:t>RecMatrix = 1 2 3</a:t>
            </a:r>
            <a:r>
              <a:rPr/>
              <a:t>, and </a:t>
            </a:r>
            <a:r>
              <a:rPr>
                <a:latin typeface="Courier"/>
              </a:rPr>
              <a:t>RegShift = 1999</a:t>
            </a:r>
            <a:r>
              <a:rPr/>
              <a:t>. In practical terms, this means that the northern component is not represented simply as a second stock with otherwise identical rules. It is represented with a different recruitment structure that includes a regime shift. The recruitment year blocks in the file are 2000-2022, 1970-1996, and 2001-2016 for the three recruitment assignments. The model also assigns a higher natural mortality value to the second stock (0.33), along with a separate maturity schedule and separate population weight-at-age schedule.</a:t>
            </a:r>
          </a:p>
          <a:p>
            <a:pPr lvl="0" indent="0" marL="0">
              <a:buNone/>
            </a:pPr>
            <a:r>
              <a:rPr/>
              <a:t>The treatment of the Far North fleet also changes substantially under </a:t>
            </a:r>
            <a:r>
              <a:rPr>
                <a:latin typeface="Courier"/>
              </a:rPr>
              <a:t>h2_1.14</a:t>
            </a:r>
            <a:r>
              <a:rPr/>
              <a:t>. Whereas </a:t>
            </a:r>
            <a:r>
              <a:rPr>
                <a:latin typeface="Courier"/>
              </a:rPr>
              <a:t>h1_1.14</a:t>
            </a:r>
            <a:r>
              <a:rPr/>
              <a:t> allows a long annual history of selectivity variation for the Far North fleet, </a:t>
            </a:r>
            <a:r>
              <a:rPr>
                <a:latin typeface="Courier"/>
              </a:rPr>
              <a:t>h2_1.14</a:t>
            </a:r>
            <a:r>
              <a:rPr/>
              <a:t> uses a much simpler regime treatment centered on 2002. This is an important point for later MSE development because the difference between </a:t>
            </a:r>
            <a:r>
              <a:rPr>
                <a:latin typeface="Courier"/>
              </a:rPr>
              <a:t>h1</a:t>
            </a:r>
            <a:r>
              <a:rPr/>
              <a:t> and </a:t>
            </a:r>
            <a:r>
              <a:rPr>
                <a:latin typeface="Courier"/>
              </a:rPr>
              <a:t>h2</a:t>
            </a:r>
            <a:r>
              <a:rPr/>
              <a:t> is not purely a question of stock structure. It is partly a difference in how northern observations are interpreted and regularized.</a:t>
            </a:r>
          </a:p>
          <a:p>
            <a:pPr lvl="0" indent="0" marL="0">
              <a:buNone/>
            </a:pPr>
            <a:r>
              <a:rPr/>
              <a:t>The fitted report file for </a:t>
            </a:r>
            <a:r>
              <a:rPr>
                <a:latin typeface="Courier"/>
              </a:rPr>
              <a:t>h2_1.14</a:t>
            </a:r>
            <a:r>
              <a:rPr/>
              <a:t> indicates a total objective function of 1194.09. As with the single-stock model, substantial contributions arise from fishery age, fishery length, selectivity penalties, and abundance indices. The lower total objective function relative to </a:t>
            </a:r>
            <a:r>
              <a:rPr>
                <a:latin typeface="Courier"/>
              </a:rPr>
              <a:t>h1_1.14</a:t>
            </a:r>
            <a:r>
              <a:rPr/>
              <a:t> does not by itself establish superiority, but it does confirm that the two-stock hypothesis is a comparably rich fitted model rather than a stripped-down alternative.</a:t>
            </a:r>
          </a:p>
          <a:p>
            <a:pPr lvl="0" indent="0" marL="0">
              <a:spcBef>
                <a:spcPts val="3000"/>
              </a:spcBef>
              <a:buNone/>
            </a:pPr>
            <a:r>
              <a:rPr b="1"/>
              <a:t>4.3 Summary Comparison</a:t>
            </a:r>
          </a:p>
          <a:p>
            <a:pPr lvl="0" indent="0" marL="0">
              <a:buNone/>
            </a:pPr>
            <a:r>
              <a:rPr/>
              <a:t>The main structural differences between the two SC13 advice models are summarized in Table 1.</a:t>
            </a:r>
          </a:p>
          <a:p>
            <a:pPr lvl="0" indent="0" marL="0">
              <a:buNone/>
            </a:pPr>
            <a:r>
              <a:rPr/>
              <a:t>Table 1: Main structural differences between the SC13 single-stock advice model (</a:t>
            </a:r>
            <a:r>
              <a:rPr>
                <a:latin typeface="Courier"/>
              </a:rPr>
              <a:t>h1_1.14</a:t>
            </a:r>
            <a:r>
              <a:rPr/>
              <a:t>) and two-stock advice model (</a:t>
            </a:r>
            <a:r>
              <a:rPr>
                <a:latin typeface="Courier"/>
              </a:rPr>
              <a:t>h2_1.14</a:t>
            </a:r>
            <a:r>
              <a:rPr/>
              <a:t>).</a:t>
            </a:r>
          </a:p>
          <a:p>
            <a:pPr lvl="0" indent="0" marL="0">
              <a:buNone/>
            </a:pPr>
            <a:r>
              <a:rPr/>
              <a:t>The commonality between the two models is therefore greater than their difference in terms of data inputs and overall assessment machinery. The key differences lie in stock allocation, biology, recruitment structure, and the degree of complexity assigned to the northern part of the system.</a:t>
            </a:r>
          </a:p>
          <a:p>
            <a:pPr lvl="0" indent="0" marL="0">
              <a:spcBef>
                <a:spcPts val="3000"/>
              </a:spcBef>
              <a:buNone/>
            </a:pPr>
            <a:r>
              <a:rPr b="1"/>
              <a:t>5 Base model considerations</a:t>
            </a:r>
          </a:p>
          <a:p>
            <a:pPr lvl="0" indent="0" marL="0">
              <a:buNone/>
            </a:pPr>
            <a:r>
              <a:rPr/>
              <a:t>The July 2025 MSE workshop concluded that the base assessment should probably be more clearly documented and then perhaps simplified for use as an MSE operating model.</a:t>
            </a:r>
          </a:p>
          <a:p>
            <a:pPr lvl="0" indent="0" marL="0">
              <a:buNone/>
            </a:pPr>
            <a:r>
              <a:rPr/>
              <a:t>The SC13 base model uses extensive time-varying selectivity. This practice continued in the 2025 assessment to improve fits for the south-central Chile and offshore fleets. Time-varying selectivity may be necessary in annual assessments, but it can make MSE results difficult to interpret because changes in management performance may reflect selectivity specification as much as underlying stock dynamics (Linton &amp; Bence, 2011).</a:t>
            </a:r>
          </a:p>
          <a:p>
            <a:pPr lvl="0" indent="0" marL="0">
              <a:buNone/>
            </a:pPr>
            <a:r>
              <a:rPr/>
              <a:t>In the base model the reference points are dynamic. </a:t>
            </a:r>
            <a:r>
              <a:rPr>
                <a:latin typeface="Courier"/>
              </a:rPr>
              <a:t>BMSY</a:t>
            </a:r>
            <a:r>
              <a:rPr/>
              <a:t> and </a:t>
            </a:r>
            <a:r>
              <a:rPr>
                <a:latin typeface="Courier"/>
              </a:rPr>
              <a:t>FMSY</a:t>
            </a:r>
            <a:r>
              <a:rPr/>
              <a:t> typically depend on terminal-year conditions, especially relative catch shares, selectivity-at-age, and weights-at-age. This makes stock status and advice partly conditional on the most recent fitted model state rather than solely on a stable management benchmark. The appropriateness of this as an assessment choice was raised over several meetings and discussions as it complicates the OM design because the benchmark itself changes with the assessment outcome.</a:t>
            </a:r>
          </a:p>
          <a:p>
            <a:pPr lvl="0" indent="0" marL="0">
              <a:buNone/>
            </a:pPr>
            <a:r>
              <a:rPr/>
              <a:t>Similarly, the projection assumptions differ from the fitting assumptions. The projection scripts show that future calculations rely on fixed selectivity and, in some scenarios, a shortened low-productivity recruitment history. This means that advice is generated from a model in which the fitting phase and the projection phase are intentionally different. In MSE, that layering needs to be explicit and deliberate rather than inherited as an assessment convention (Punt et al., 2016; Siple et al., 2021).</a:t>
            </a:r>
          </a:p>
          <a:p>
            <a:pPr lvl="0" indent="0" marL="0">
              <a:buNone/>
            </a:pPr>
            <a:r>
              <a:rPr/>
              <a:t>Additionally stock-structure uncertainty is mixed in with other differences. The contrast between </a:t>
            </a:r>
            <a:r>
              <a:rPr>
                <a:latin typeface="Courier"/>
              </a:rPr>
              <a:t>h1_1.14</a:t>
            </a:r>
            <a:r>
              <a:rPr/>
              <a:t> and </a:t>
            </a:r>
            <a:r>
              <a:rPr>
                <a:latin typeface="Courier"/>
              </a:rPr>
              <a:t>h2_1.14</a:t>
            </a:r>
            <a:r>
              <a:rPr/>
              <a:t> is more than one stock versus two stocks as an issue. The northern selectivity structure, different mortality, different maturity, different population weight-at-age, and different recruitment regime treatment affect things between the model configurations. For MSE, it will be helpful to separate uncertainty about stock structure from uncertainty about how model complexity has been allocated within each hypothesis.</a:t>
            </a:r>
          </a:p>
          <a:p>
            <a:pPr lvl="0" indent="0" marL="0">
              <a:spcBef>
                <a:spcPts val="3000"/>
              </a:spcBef>
              <a:buNone/>
            </a:pPr>
            <a:r>
              <a:rPr b="1"/>
              <a:t>6 Proposed Simplified Alternatives</a:t>
            </a:r>
          </a:p>
          <a:p>
            <a:pPr lvl="0" indent="0" marL="0">
              <a:buNone/>
            </a:pPr>
            <a:r>
              <a:rPr/>
              <a:t>The SC13 base model should be treated as the reference assessment formulation. Simplified alternatives should therefore be judged by how much of the essential behavior of the base model they retain while removing structural complexity that is not needed for MSE.</a:t>
            </a:r>
          </a:p>
          <a:p>
            <a:pPr lvl="0" indent="0" marL="0">
              <a:buNone/>
            </a:pPr>
            <a:r>
              <a:rPr/>
              <a:t>A practical first working set of alternatives is summarized in Table 2. The table highlights how each variant differs from its relevant </a:t>
            </a:r>
            <a:r>
              <a:rPr>
                <a:latin typeface="Courier"/>
              </a:rPr>
              <a:t>1.14</a:t>
            </a:r>
            <a:r>
              <a:rPr/>
              <a:t> assessment counterpart in data treatment, selectivity treatment, and intended purpose.</a:t>
            </a:r>
          </a:p>
          <a:p>
            <a:pPr lvl="0" indent="0" marL="0">
              <a:buNone/>
            </a:pPr>
            <a:r>
              <a:rPr/>
              <a:t>Table 2: Summary of the simplified model variants discussed in Section 6.</a:t>
            </a:r>
          </a:p>
          <a:p>
            <a:pPr lvl="0" indent="0" marL="0">
              <a:buNone/>
            </a:pPr>
            <a:r>
              <a:rPr/>
              <a:t>The </a:t>
            </a:r>
            <a:r>
              <a:rPr>
                <a:latin typeface="Courier"/>
              </a:rPr>
              <a:t>h2_2.00</a:t>
            </a:r>
            <a:r>
              <a:rPr/>
              <a:t> serves as the two-stock reduced-index analogue,</a:t>
            </a:r>
            <a:br/>
            <a:r>
              <a:rPr/>
              <a:t>while </a:t>
            </a:r>
            <a:r>
              <a:rPr>
                <a:latin typeface="Courier"/>
              </a:rPr>
              <a:t>h2_2.02</a:t>
            </a:r>
            <a:r>
              <a:rPr/>
              <a:t> frames the harmonized Far North selectivity treatment.</a:t>
            </a:r>
          </a:p>
          <a:p>
            <a:pPr lvl="0" indent="0" marL="0">
              <a:spcBef>
                <a:spcPts val="3000"/>
              </a:spcBef>
              <a:buNone/>
            </a:pPr>
            <a:r>
              <a:rPr b="1"/>
              <a:t>6.1 Reduced number of indices</a:t>
            </a:r>
          </a:p>
          <a:p>
            <a:pPr lvl="0" indent="0" marL="0">
              <a:buNone/>
            </a:pPr>
            <a:r>
              <a:rPr/>
              <a:t>There are three indices in the model that are no longer being conducted and generally fit poorly relative to other data. These included the Central-South acoustic survey, the egg-production index, and the Peruvian acoustic surveys. One sensitivity to omitting these data was considered.</a:t>
            </a:r>
          </a:p>
          <a:p>
            <a:pPr lvl="0" indent="0" marL="0">
              <a:buNone/>
            </a:pPr>
            <a:r>
              <a:rPr/>
              <a:t>The resulting sensitivity run is represented here by </a:t>
            </a:r>
            <a:r>
              <a:rPr>
                <a:latin typeface="Courier"/>
              </a:rPr>
              <a:t>h1_2.00</a:t>
            </a:r>
            <a:r>
              <a:rPr/>
              <a:t>, which removes </a:t>
            </a:r>
            <a:r>
              <a:rPr>
                <a:latin typeface="Courier"/>
              </a:rPr>
              <a:t>Chile_AcousCS</a:t>
            </a:r>
            <a:r>
              <a:rPr/>
              <a:t>, </a:t>
            </a:r>
            <a:r>
              <a:rPr>
                <a:latin typeface="Courier"/>
              </a:rPr>
              <a:t>DEPM</a:t>
            </a:r>
            <a:r>
              <a:rPr/>
              <a:t>, and </a:t>
            </a:r>
            <a:r>
              <a:rPr>
                <a:latin typeface="Courier"/>
              </a:rPr>
              <a:t>Peru_Acoustic</a:t>
            </a:r>
            <a:r>
              <a:rPr/>
              <a:t> from the single-stock configuration and also trims the retained </a:t>
            </a:r>
            <a:r>
              <a:rPr>
                <a:latin typeface="Courier"/>
              </a:rPr>
              <a:t>Chile_AcousN</a:t>
            </a:r>
            <a:r>
              <a:rPr/>
              <a:t> series to years 2000 and later. Relative to </a:t>
            </a:r>
            <a:r>
              <a:rPr>
                <a:latin typeface="Courier"/>
              </a:rPr>
              <a:t>h1_1.14</a:t>
            </a:r>
            <a:r>
              <a:rPr/>
              <a:t>, this drops 56 index-year observations in total: 13 from </a:t>
            </a:r>
            <a:r>
              <a:rPr>
                <a:latin typeface="Courier"/>
              </a:rPr>
              <a:t>Chile_AcousCS</a:t>
            </a:r>
            <a:r>
              <a:rPr/>
              <a:t>, 9 from </a:t>
            </a:r>
            <a:r>
              <a:rPr>
                <a:latin typeface="Courier"/>
              </a:rPr>
              <a:t>DEPM</a:t>
            </a:r>
            <a:r>
              <a:rPr/>
              <a:t>, 28 from </a:t>
            </a:r>
            <a:r>
              <a:rPr>
                <a:latin typeface="Courier"/>
              </a:rPr>
              <a:t>Peru_Acoustic</a:t>
            </a:r>
            <a:r>
              <a:rPr/>
              <a:t>, and 6 pre-2000 observations from </a:t>
            </a:r>
            <a:r>
              <a:rPr>
                <a:latin typeface="Courier"/>
              </a:rPr>
              <a:t>Chile_AcousN</a:t>
            </a:r>
            <a:r>
              <a:rPr/>
              <a:t>. It also reduces the fitted parameter vector by 44 parameters, from 1865 in </a:t>
            </a:r>
            <a:r>
              <a:rPr>
                <a:latin typeface="Courier"/>
              </a:rPr>
              <a:t>h1_1.14</a:t>
            </a:r>
            <a:r>
              <a:rPr/>
              <a:t> to 1821 in </a:t>
            </a:r>
            <a:r>
              <a:rPr>
                <a:latin typeface="Courier"/>
              </a:rPr>
              <a:t>h1_2.00</a:t>
            </a:r>
            <a:r>
              <a:rPr/>
              <a:t>. This comparison is useful because it isolates a specific simplification of the observation model while leaving the broader single-stock population structure unchanged.</a:t>
            </a:r>
          </a:p>
          <a:p>
            <a:pPr lvl="0" indent="0" marL="0">
              <a:buNone/>
            </a:pPr>
          </a:p>
          <a:p>
            <a:pPr lvl="0" indent="0" marL="0">
              <a:buNone/>
            </a:pPr>
            <a:r>
              <a:rPr/>
              <a:t>Figure 1: Comparison of spawning biomass trajectories from the base single-stock model (</a:t>
            </a:r>
            <a:r>
              <a:rPr>
                <a:latin typeface="Courier"/>
              </a:rPr>
              <a:t>h1_1.14</a:t>
            </a:r>
            <a:r>
              <a:rPr/>
              <a:t>) and the reduced-index sensitivity (</a:t>
            </a:r>
            <a:r>
              <a:rPr>
                <a:latin typeface="Courier"/>
              </a:rPr>
              <a:t>h1_2.00</a:t>
            </a:r>
            <a:r>
              <a:rPr/>
              <a:t>).</a:t>
            </a:r>
          </a:p>
          <a:p>
            <a:pPr lvl="0" indent="0" marL="0">
              <a:buNone/>
            </a:pPr>
          </a:p>
          <a:p>
            <a:pPr lvl="0" indent="0" marL="0">
              <a:buNone/>
            </a:pPr>
            <a:r>
              <a:rPr/>
              <a:t>Figure 2: Comparison of recruitment trajectories from the base single-stock model (</a:t>
            </a:r>
            <a:r>
              <a:rPr>
                <a:latin typeface="Courier"/>
              </a:rPr>
              <a:t>h1_1.14</a:t>
            </a:r>
            <a:r>
              <a:rPr/>
              <a:t>) and the reduced-index sensitivity (</a:t>
            </a:r>
            <a:r>
              <a:rPr>
                <a:latin typeface="Courier"/>
              </a:rPr>
              <a:t>h1_2.00</a:t>
            </a:r>
            <a:r>
              <a:rPr/>
              <a:t>).</a:t>
            </a:r>
          </a:p>
          <a:p>
            <a:pPr lvl="0" indent="0" marL="0">
              <a:buNone/>
            </a:pPr>
            <a:r>
              <a:rPr/>
              <a:t>Relative to </a:t>
            </a:r>
            <a:r>
              <a:rPr>
                <a:latin typeface="Courier"/>
              </a:rPr>
              <a:t>h1_1.14</a:t>
            </a:r>
            <a:r>
              <a:rPr/>
              <a:t>, the reduced-index model leaves the broad historical pattern intact but slightly lowers the terminal objective function, from about 1323.8 in </a:t>
            </a:r>
            <a:r>
              <a:rPr>
                <a:latin typeface="Courier"/>
              </a:rPr>
              <a:t>h1_1.14</a:t>
            </a:r>
            <a:r>
              <a:rPr/>
              <a:t> to about 1234.7 in </a:t>
            </a:r>
            <a:r>
              <a:rPr>
                <a:latin typeface="Courier"/>
              </a:rPr>
              <a:t>h1_2.00</a:t>
            </a:r>
            <a:r>
              <a:rPr/>
              <a:t>. Terminal-year spawning biomass uncertainty remains very similar between the two fits, although it is slightly higher in the reduced-index run: the 2025 SSB CV is about 0.125 for </a:t>
            </a:r>
            <a:r>
              <a:rPr>
                <a:latin typeface="Courier"/>
              </a:rPr>
              <a:t>h1_1.14</a:t>
            </a:r>
            <a:r>
              <a:rPr/>
              <a:t> and about 0.129 for </a:t>
            </a:r>
            <a:r>
              <a:rPr>
                <a:latin typeface="Courier"/>
              </a:rPr>
              <a:t>h1_2.00</a:t>
            </a:r>
            <a:r>
              <a:rPr/>
              <a:t>. As shown in Figure 1 and Figure 2, the series plots are useful as a first diagnostic of whether the omitted indices were materially changing stock perception or mainly adding noise and additional fitting burden. If the trajectories remain broadly similar, then reducing the index set may be a promising simplification for later MSE work.</a:t>
            </a:r>
          </a:p>
          <a:p>
            <a:pPr lvl="0" indent="0" marL="0">
              <a:buNone/>
            </a:pPr>
          </a:p>
          <a:p>
            <a:pPr lvl="0" indent="0" marL="0">
              <a:buNone/>
            </a:pPr>
            <a:r>
              <a:rPr/>
              <a:t>NoteReviewer comment (I. Mosqueira)</a:t>
            </a:r>
          </a:p>
          <a:p>
            <a:pPr lvl="0" indent="0" marL="0">
              <a:buNone/>
            </a:pPr>
            <a:r>
              <a:rPr/>
              <a:t>The existing </a:t>
            </a:r>
            <a:r>
              <a:rPr>
                <a:latin typeface="Courier"/>
              </a:rPr>
              <a:t>cjm.oem</a:t>
            </a:r>
            <a:r>
              <a:rPr/>
              <a:t> function in the MSE codebase already accommodates the legacy indices and accounts for the one-year lag in reporting the offshore CPUE. This means that the computational infrastructure for alternative index configurations is already in place, which substantially reduces the implementation burden of running multiple index configurations within the MSE framework.</a:t>
            </a:r>
          </a:p>
          <a:p>
            <a:pPr lvl="0" indent="0" marL="0">
              <a:buNone/>
            </a:pPr>
            <a:r>
              <a:rPr/>
              <a:t>The influence of individual indices on stock perception warrants specific attention alongside the question of which indices to retain. The Chilean acoustic survey (</a:t>
            </a:r>
            <a:r>
              <a:rPr>
                <a:latin typeface="Courier"/>
              </a:rPr>
              <a:t>Chile_AcousN</a:t>
            </a:r>
            <a:r>
              <a:rPr/>
              <a:t>) in particular can strongly influence estimates of current stock status and recent recruitment, depending on the time period and the weight given to that series. A leave-one-out analysis — treating the full index set and each successive alternative configuration as separate robustness operating models — would allow MSE to probe sensitivity to individual indices without committing to a single reduced set as the canonical operating model. The leave-one-out approach should therefore be identified as a robustness axis in the MSE operating model grid, complementing the baseline reduced-index run represented by </a:t>
            </a:r>
            <a:r>
              <a:rPr>
                <a:latin typeface="Courier"/>
              </a:rPr>
              <a:t>h1_2.00</a:t>
            </a:r>
            <a:r>
              <a:rPr/>
              <a:t>.</a:t>
            </a:r>
          </a:p>
          <a:p>
            <a:pPr lvl="0" indent="0" marL="0">
              <a:spcBef>
                <a:spcPts val="3000"/>
              </a:spcBef>
              <a:buNone/>
            </a:pPr>
            <a:r>
              <a:rPr b="1"/>
              <a:t>6.2 Simplified Selectivity Alternatives</a:t>
            </a:r>
          </a:p>
          <a:p>
            <a:pPr lvl="0" indent="0" marL="0">
              <a:buNone/>
            </a:pPr>
            <a:r>
              <a:rPr/>
              <a:t>Selectivity specification is the most important source of structural uncertainty in the SC13 base model, i and its treatment in the MSE operating model deserves the most careful consideration of any of the simplification choices discussed in this paper. Two related but distinct dimensions of selectivity need to be addressed.</a:t>
            </a:r>
          </a:p>
          <a:p>
            <a:pPr lvl="0" indent="0" marL="0">
              <a:buNone/>
            </a:pPr>
            <a:r>
              <a:rPr b="1"/>
              <a:t>Within-model selectivity structure.</a:t>
            </a:r>
            <a:r>
              <a:rPr/>
              <a:t> The first dimension is the selectivity structure used during model fitting. One option is to replace long annual selectivity histories with a limited set of blocks for each fleet — for example a historical block, a modern block, and a current block. This preserves the broad evidence that fishery selectivity has changed over time while avoiding dozens of annual deviations that are difficult to interpret and project forward. Block-based selectivity is recommended as the primary simplified alternative for the MSE operating models. It provides an interpretable and tractable representation of selectivity change without the parameter proliferation of annual non-parametric estimation.</a:t>
            </a:r>
          </a:p>
          <a:p>
            <a:pPr lvl="0" indent="0" marL="0">
              <a:spcBef>
                <a:spcPts val="3000"/>
              </a:spcBef>
              <a:buNone/>
            </a:pPr>
            <a:r>
              <a:rPr b="1"/>
              <a:t>Selectivity Time-Block Reduction by Fleet</a:t>
            </a:r>
          </a:p>
          <a:p>
            <a:pPr lvl="0" indent="0" marL="0">
              <a:buNone/>
            </a:pPr>
            <a:r>
              <a:rPr/>
              <a:t>Using the age-composition tables (Annex Tables 3-5) and the selectivity heatmaps (Annex Figures 37-38), it is possible to define time blocks where the age pattern, as a proxy for selectivity-at-age, is broadly stable for each fleet. The reduction below follows the main regime shifts visible in the data and is broadly consistent with how the current model already treats selectivity in some components.</a:t>
            </a:r>
          </a:p>
          <a:p>
            <a:pPr lvl="0" indent="0" marL="0">
              <a:spcBef>
                <a:spcPts val="3000"/>
              </a:spcBef>
              <a:buNone/>
            </a:pPr>
            <a:r>
              <a:rPr b="1"/>
              <a:t>Fleet 1 — North Chile</a:t>
            </a:r>
          </a:p>
          <a:p>
            <a:pPr lvl="0" indent="0" marL="0">
              <a:buNone/>
            </a:pPr>
            <a:r>
              <a:rPr/>
              <a:t>The following suggested blocks (based on age comps in Table 3 of the Annex) for this fleet are:</a:t>
            </a:r>
          </a:p>
          <a:p>
            <a:pPr lvl="0"/>
            <a:r>
              <a:rPr b="1"/>
              <a:t>1980-1986</a:t>
            </a:r>
            <a:r>
              <a:rPr/>
              <a:t>: Broad dome, peaking around ages 4-6.</a:t>
            </a:r>
          </a:p>
          <a:p>
            <a:pPr lvl="0"/>
            <a:r>
              <a:rPr b="1"/>
              <a:t>1987-1999</a:t>
            </a:r>
            <a:r>
              <a:rPr/>
              <a:t>: Strong shift toward young ages, with ages 1-2 dominant.</a:t>
            </a:r>
          </a:p>
          <a:p>
            <a:pPr lvl="0"/>
            <a:r>
              <a:rPr b="1"/>
              <a:t>2000-2015</a:t>
            </a:r>
            <a:r>
              <a:rPr/>
              <a:t>: Persistent very young selectivity, again centered on ages 1-2.</a:t>
            </a:r>
          </a:p>
          <a:p>
            <a:pPr lvl="0"/>
            <a:r>
              <a:rPr b="1"/>
              <a:t>2016-2025</a:t>
            </a:r>
            <a:r>
              <a:rPr/>
              <a:t>: Transition toward older ages, with ages 4-8 increasing.</a:t>
            </a:r>
          </a:p>
          <a:p>
            <a:pPr lvl="0" indent="0" marL="0">
              <a:buNone/>
            </a:pPr>
            <a:r>
              <a:rPr/>
              <a:t>The main structural breaks for this fleet are around 1987 and 2016, which is also consistent with the increase in mean age shown in Annex Figure 31.</a:t>
            </a:r>
          </a:p>
          <a:p>
            <a:pPr lvl="0" indent="0" marL="0">
              <a:spcBef>
                <a:spcPts val="3000"/>
              </a:spcBef>
              <a:buNone/>
            </a:pPr>
            <a:r>
              <a:rPr b="1"/>
              <a:t>Fleet 2 — South-Central Chile</a:t>
            </a:r>
          </a:p>
          <a:p>
            <a:pPr lvl="0" indent="0" marL="0">
              <a:buNone/>
            </a:pPr>
            <a:r>
              <a:rPr/>
              <a:t>The following suggested blocks (based on age comps in Table 4 of the Annex) for this fleet are:</a:t>
            </a:r>
          </a:p>
          <a:p>
            <a:pPr lvl="0"/>
            <a:r>
              <a:rPr b="1"/>
              <a:t>1980-1989</a:t>
            </a:r>
            <a:r>
              <a:rPr/>
              <a:t>: Peak ages are around 3-5.</a:t>
            </a:r>
          </a:p>
          <a:p>
            <a:pPr lvl="0"/>
            <a:r>
              <a:rPr b="1"/>
              <a:t>1990-2004</a:t>
            </a:r>
            <a:r>
              <a:rPr/>
              <a:t>: Gradual right-shift, with ages 5-8 becoming more important.</a:t>
            </a:r>
          </a:p>
          <a:p>
            <a:pPr lvl="0"/>
            <a:r>
              <a:rPr b="1"/>
              <a:t>2005-2013</a:t>
            </a:r>
            <a:r>
              <a:rPr/>
              <a:t>: Broad and relatively flat selectivity across ages 4-8.</a:t>
            </a:r>
          </a:p>
          <a:p>
            <a:pPr lvl="0"/>
            <a:r>
              <a:rPr b="1"/>
              <a:t>2014-2025</a:t>
            </a:r>
            <a:r>
              <a:rPr/>
              <a:t>: Clear dominance of older fish, especially ages 5-9.</a:t>
            </a:r>
          </a:p>
          <a:p>
            <a:pPr lvl="0" indent="0" marL="0">
              <a:buNone/>
            </a:pPr>
            <a:r>
              <a:rPr/>
              <a:t>These blocks are consistent with the gradual aging trend noted elsewhere in the report, including the increase in mean age over the last decade.</a:t>
            </a:r>
          </a:p>
          <a:p>
            <a:pPr lvl="0" indent="0" marL="0">
              <a:spcBef>
                <a:spcPts val="3000"/>
              </a:spcBef>
              <a:buNone/>
            </a:pPr>
            <a:r>
              <a:rPr b="1"/>
              <a:t>Fleet 3 — Far North</a:t>
            </a:r>
          </a:p>
          <a:p>
            <a:pPr lvl="0" indent="0" marL="0">
              <a:buNone/>
            </a:pPr>
            <a:r>
              <a:rPr/>
              <a:t>The following suggested blocks (based on the length-composition pattern in Table 6 of the Annex, translated to implied age selectivity) for this fleet are:</a:t>
            </a:r>
          </a:p>
          <a:p>
            <a:pPr lvl="0"/>
            <a:r>
              <a:rPr b="1"/>
              <a:t>1980-1995</a:t>
            </a:r>
            <a:r>
              <a:rPr/>
              <a:t>: Stable mid-length pattern corresponding roughly to ages 4-7.</a:t>
            </a:r>
          </a:p>
          <a:p>
            <a:pPr lvl="0"/>
            <a:r>
              <a:rPr b="1"/>
              <a:t>1996-2004</a:t>
            </a:r>
            <a:r>
              <a:rPr/>
              <a:t>: Modest shift toward smaller fish.</a:t>
            </a:r>
          </a:p>
          <a:p>
            <a:pPr lvl="0"/>
            <a:r>
              <a:rPr b="1"/>
              <a:t>2005-2013</a:t>
            </a:r>
            <a:r>
              <a:rPr/>
              <a:t>: Higher variability with mixed modes.</a:t>
            </a:r>
          </a:p>
          <a:p>
            <a:pPr lvl="0"/>
            <a:r>
              <a:rPr b="1"/>
              <a:t>2014-2025</a:t>
            </a:r>
            <a:r>
              <a:rPr/>
              <a:t>: Shift toward larger and therefore older fish.</a:t>
            </a:r>
          </a:p>
          <a:p>
            <a:pPr lvl="0" indent="0" marL="0">
              <a:buNone/>
            </a:pPr>
            <a:r>
              <a:rPr/>
              <a:t>This is notable because the current </a:t>
            </a:r>
            <a:r>
              <a:rPr>
                <a:latin typeface="Courier"/>
              </a:rPr>
              <a:t>h2</a:t>
            </a:r>
            <a:r>
              <a:rPr/>
              <a:t> treatment already uses a simplified two-regime split around 2002, but the data suggest somewhat finer structure could be supported.</a:t>
            </a:r>
          </a:p>
          <a:p>
            <a:pPr lvl="0" indent="0" marL="0">
              <a:spcBef>
                <a:spcPts val="3000"/>
              </a:spcBef>
              <a:buNone/>
            </a:pPr>
            <a:r>
              <a:rPr b="1"/>
              <a:t>Fleet 4 — Offshore trawl</a:t>
            </a:r>
          </a:p>
          <a:p>
            <a:pPr lvl="0" indent="0" marL="0">
              <a:buNone/>
            </a:pPr>
            <a:r>
              <a:rPr/>
              <a:t>The following suggested blocks (based on age comps in Table 5 of the Annex) for this fleet are:</a:t>
            </a:r>
          </a:p>
          <a:p>
            <a:pPr lvl="0"/>
            <a:r>
              <a:rPr b="1"/>
              <a:t>2015-2017</a:t>
            </a:r>
            <a:r>
              <a:rPr/>
              <a:t>: Mixed ages, including some older fish.</a:t>
            </a:r>
          </a:p>
          <a:p>
            <a:pPr lvl="0"/>
            <a:r>
              <a:rPr b="1"/>
              <a:t>2018-2020</a:t>
            </a:r>
            <a:r>
              <a:rPr/>
              <a:t>: Shift toward younger fish, especially ages 2-4.</a:t>
            </a:r>
          </a:p>
          <a:p>
            <a:pPr lvl="0"/>
            <a:r>
              <a:rPr b="1"/>
              <a:t>2021-2025</a:t>
            </a:r>
            <a:r>
              <a:rPr/>
              <a:t>: Strong young-fish dominance, including a pronounced age-2 spike.</a:t>
            </a:r>
          </a:p>
          <a:p>
            <a:pPr lvl="0" indent="0" marL="0">
              <a:buNone/>
            </a:pPr>
            <a:r>
              <a:rPr/>
              <a:t>These changes are consistent with the recent selectivity changes noted in the SC13 sensitivity runs.</a:t>
            </a:r>
          </a:p>
          <a:p>
            <a:pPr lvl="0" indent="0" marL="0">
              <a:spcBef>
                <a:spcPts val="3000"/>
              </a:spcBef>
              <a:buNone/>
            </a:pPr>
            <a:r>
              <a:rPr b="1"/>
              <a:t>Cross-Fleet Simplification</a:t>
            </a:r>
          </a:p>
          <a:p>
            <a:pPr lvl="0" indent="0" marL="0">
              <a:buNone/>
            </a:pPr>
            <a:r>
              <a:rPr/>
              <a:t>If a more parsimonious common structure is preferred, a shared set of broad periods could be:</a:t>
            </a:r>
          </a:p>
          <a:p>
            <a:pPr lvl="0"/>
            <a:r>
              <a:rPr b="1"/>
              <a:t>Pre-1990</a:t>
            </a:r>
          </a:p>
          <a:p>
            <a:pPr lvl="0"/>
            <a:r>
              <a:rPr b="1"/>
              <a:t>1990-2004</a:t>
            </a:r>
          </a:p>
          <a:p>
            <a:pPr lvl="0"/>
            <a:r>
              <a:rPr b="1"/>
              <a:t>2005-2015</a:t>
            </a:r>
          </a:p>
          <a:p>
            <a:pPr lvl="0"/>
            <a:r>
              <a:rPr b="1"/>
              <a:t>2016-present</a:t>
            </a:r>
          </a:p>
          <a:p>
            <a:pPr lvl="0" indent="0" marL="0">
              <a:buNone/>
            </a:pPr>
            <a:r>
              <a:rPr/>
              <a:t>This common structure could then be supplemented with:</a:t>
            </a:r>
          </a:p>
          <a:p>
            <a:pPr lvl="0"/>
            <a:r>
              <a:rPr/>
              <a:t>fleet-specific deviations, for example through random effects or a low-rank representation; and</a:t>
            </a:r>
          </a:p>
          <a:p>
            <a:pPr lvl="0"/>
            <a:r>
              <a:rPr/>
              <a:t>extra flexibility for Fleet 4 after 2018, where the short series suggests sharper recent changes.</a:t>
            </a:r>
          </a:p>
          <a:p>
            <a:pPr lvl="0" indent="0" marL="0">
              <a:spcBef>
                <a:spcPts val="3000"/>
              </a:spcBef>
              <a:buNone/>
            </a:pPr>
            <a:r>
              <a:rPr b="1"/>
              <a:t>Key Insight</a:t>
            </a:r>
          </a:p>
          <a:p>
            <a:pPr lvl="0" indent="0" marL="0">
              <a:buNone/>
            </a:pPr>
            <a:r>
              <a:rPr/>
              <a:t>Across fleets, the main broad pattern is a recent shift toward older fish after about 2015, with the offshore fleet as the main exception because it shows more recent spikes in younger selectivity.</a:t>
            </a:r>
          </a:p>
          <a:p>
            <a:pPr lvl="0" indent="0" marL="0">
              <a:buNone/>
            </a:pPr>
            <a:r>
              <a:rPr/>
              <a:t>The clearest global breakpoints appear to be:</a:t>
            </a:r>
          </a:p>
          <a:p>
            <a:pPr lvl="0"/>
            <a:r>
              <a:rPr b="1"/>
              <a:t>1987-1990</a:t>
            </a:r>
            <a:r>
              <a:rPr/>
              <a:t>: collapse period associated with younger fish;</a:t>
            </a:r>
          </a:p>
          <a:p>
            <a:pPr lvl="0"/>
            <a:r>
              <a:rPr b="1"/>
              <a:t>around 2000</a:t>
            </a:r>
            <a:r>
              <a:rPr/>
              <a:t>: a stabilization period; and</a:t>
            </a:r>
          </a:p>
          <a:p>
            <a:pPr lvl="0"/>
            <a:r>
              <a:rPr b="1"/>
              <a:t>2015-2016</a:t>
            </a:r>
            <a:r>
              <a:rPr/>
              <a:t>: an aging or structural shift.</a:t>
            </a:r>
          </a:p>
          <a:p>
            <a:pPr lvl="0" indent="0" marL="0">
              <a:buNone/>
            </a:pPr>
            <a:r>
              <a:rPr/>
              <a:t>These broad breakpoints also align with changes in fishing pressure, the stock rebuilding phase, and the model note that recent selectivity favors older fish.</a:t>
            </a:r>
          </a:p>
          <a:p>
            <a:pPr lvl="0" indent="0" marL="0">
              <a:spcBef>
                <a:spcPts val="3000"/>
              </a:spcBef>
              <a:buNone/>
            </a:pPr>
            <a:r>
              <a:rPr b="1"/>
              <a:t>Illustrative fit with selectivity blocks</a:t>
            </a:r>
          </a:p>
          <a:p>
            <a:pPr lvl="0" indent="0" marL="0">
              <a:buNone/>
            </a:pPr>
            <a:r>
              <a:rPr/>
              <a:t>To illustrate the effect of imposing the proposed fleet-specific selectivity blocks, I fitted a reduced-index sensitivity with those block years hard-coded in the fishery selectivity specification. The resulting run is represented here by </a:t>
            </a:r>
            <a:r>
              <a:rPr>
                <a:latin typeface="Courier"/>
              </a:rPr>
              <a:t>h1_2.01</a:t>
            </a:r>
            <a:r>
              <a:rPr/>
              <a:t>, which keeps the reduced-index data configuration of </a:t>
            </a:r>
            <a:r>
              <a:rPr>
                <a:latin typeface="Courier"/>
              </a:rPr>
              <a:t>h1_2.00</a:t>
            </a:r>
            <a:r>
              <a:rPr/>
              <a:t> but replaces the long annual selectivity histories with the fleet-specific blocks proposed above. The side-by-side selectivity panels in Figure 3 show directly how the fishery selectivity surface changes when the annual histories in </a:t>
            </a:r>
            <a:r>
              <a:rPr>
                <a:latin typeface="Courier"/>
              </a:rPr>
              <a:t>h1_2.00</a:t>
            </a:r>
            <a:r>
              <a:rPr/>
              <a:t> are replaced by the simplified block structure in </a:t>
            </a:r>
            <a:r>
              <a:rPr>
                <a:latin typeface="Courier"/>
              </a:rPr>
              <a:t>h1_2.01</a:t>
            </a:r>
            <a:r>
              <a:rPr/>
              <a:t>.</a:t>
            </a:r>
          </a:p>
          <a:p>
            <a:pPr lvl="0" indent="0" marL="0">
              <a:buNone/>
            </a:pPr>
          </a:p>
          <a:p>
            <a:pPr lvl="0" indent="0" marL="0">
              <a:buNone/>
            </a:pPr>
            <a:r>
              <a:rPr/>
              <a:t>(a) Model </a:t>
            </a:r>
            <a:r>
              <a:rPr>
                <a:latin typeface="Courier"/>
              </a:rPr>
              <a:t>h1_2.00</a:t>
            </a:r>
          </a:p>
          <a:p>
            <a:pPr lvl="0" indent="0" marL="0">
              <a:buNone/>
            </a:pPr>
          </a:p>
          <a:p>
            <a:pPr lvl="0" indent="0" marL="0">
              <a:buNone/>
            </a:pPr>
            <a:r>
              <a:rPr/>
              <a:t>(b) Model </a:t>
            </a:r>
            <a:r>
              <a:rPr>
                <a:latin typeface="Courier"/>
              </a:rPr>
              <a:t>h1_2.01</a:t>
            </a:r>
          </a:p>
          <a:p>
            <a:pPr lvl="0" indent="0" marL="0">
              <a:buNone/>
            </a:pPr>
            <a:r>
              <a:rPr/>
              <a:t>Figure 3: Estimates of selectivity by fishery over time for Models </a:t>
            </a:r>
            <a:r>
              <a:rPr>
                <a:latin typeface="Courier"/>
              </a:rPr>
              <a:t>h1_2.00</a:t>
            </a:r>
            <a:r>
              <a:rPr/>
              <a:t> and </a:t>
            </a:r>
            <a:r>
              <a:rPr>
                <a:latin typeface="Courier"/>
              </a:rPr>
              <a:t>h1_2.01</a:t>
            </a:r>
            <a:r>
              <a:rPr/>
              <a:t>, shown in the same style as Figure 37 of the SC13 Jack Mackerel Technical Annex (SPRFMO Scientific Committee, 2025).</a:t>
            </a:r>
          </a:p>
          <a:p>
            <a:pPr lvl="0" indent="0" marL="0">
              <a:buNone/>
            </a:pPr>
            <a:r>
              <a:rPr/>
              <a:t>Relative to </a:t>
            </a:r>
            <a:r>
              <a:rPr>
                <a:latin typeface="Courier"/>
              </a:rPr>
              <a:t>h1_2.00</a:t>
            </a:r>
            <a:r>
              <a:rPr/>
              <a:t>, the block-selectivity run fits the retained data less well and produces a higher recent stock trajectory. The terminal objective function increases from about 1234.7 in </a:t>
            </a:r>
            <a:r>
              <a:rPr>
                <a:latin typeface="Courier"/>
              </a:rPr>
              <a:t>h1_2.00</a:t>
            </a:r>
            <a:r>
              <a:rPr/>
              <a:t> to about 1544.1 in </a:t>
            </a:r>
            <a:r>
              <a:rPr>
                <a:latin typeface="Courier"/>
              </a:rPr>
              <a:t>h1_2.01</a:t>
            </a:r>
            <a:r>
              <a:rPr/>
              <a:t>, while the estimated 2025 spawning biomass increases from about 15.9 kt to about 19.9 kt. Terminal recruitment also rises, from about 16.8 million in </a:t>
            </a:r>
            <a:r>
              <a:rPr>
                <a:latin typeface="Courier"/>
              </a:rPr>
              <a:t>h1_2.00</a:t>
            </a:r>
            <a:r>
              <a:rPr/>
              <a:t> to about 21.4 million in </a:t>
            </a:r>
            <a:r>
              <a:rPr>
                <a:latin typeface="Courier"/>
              </a:rPr>
              <a:t>h1_2.01</a:t>
            </a:r>
            <a:r>
              <a:rPr/>
              <a:t>. As shown in Figure 5 and Figure 6, simplifying selectivity in this way is therefore not just a bookkeeping reduction in model complexity; it materially changes stock perception and should be treated as a substantive structural alternative in the MSE operating-model set.</a:t>
            </a:r>
          </a:p>
          <a:p>
            <a:pPr lvl="0" indent="0" marL="0">
              <a:buNone/>
            </a:pPr>
            <a:r>
              <a:rPr/>
              <a:t>The negative-log-likelihood breakdown for the base single-stock model and the two simplified alternatives is shown in Table 3. Relative to </a:t>
            </a:r>
            <a:r>
              <a:rPr>
                <a:latin typeface="Courier"/>
              </a:rPr>
              <a:t>h1_1.14</a:t>
            </a:r>
            <a:r>
              <a:rPr/>
              <a:t>, the reduced-index sensitivity lowers the retained index-related likelihood contributions without materially worsening the overall fit, whereas the block-selectivity model reduces the number of estimated parameters more aggressively but at the cost of substantially higher age- and index-fit components.</a:t>
            </a:r>
          </a:p>
          <a:p>
            <a:pPr lvl="0" indent="0" marL="0">
              <a:buNone/>
            </a:pPr>
          </a:p>
          <a:p>
            <a:pPr lvl="0" indent="0" marL="0">
              <a:buNone/>
            </a:pPr>
            <a:r>
              <a:rPr/>
              <a:t>Table 3: Negative-log-likelihood components and estimated parameter counts for the single-stock base model (</a:t>
            </a:r>
            <a:r>
              <a:rPr>
                <a:latin typeface="Courier"/>
              </a:rPr>
              <a:t>h1_1.14</a:t>
            </a:r>
            <a:r>
              <a:rPr/>
              <a:t>), the reduced-index sensitivity (</a:t>
            </a:r>
            <a:r>
              <a:rPr>
                <a:latin typeface="Courier"/>
              </a:rPr>
              <a:t>h1_2.00</a:t>
            </a:r>
            <a:r>
              <a:rPr/>
              <a:t>), and the reduced-index model with fishery selectivity blocks (</a:t>
            </a:r>
            <a:r>
              <a:rPr>
                <a:latin typeface="Courier"/>
              </a:rPr>
              <a:t>h1_2.01</a:t>
            </a:r>
            <a:r>
              <a:rPr/>
              <a:t>). For index likelihoods, the aggregate and component rows include only the retained comparable series: Acoustic North, Chile CPUE, Peru CPUE, and Offshore CPUE.</a:t>
            </a:r>
          </a:p>
          <a:p>
            <a:pPr lvl="0" indent="0" marL="0">
              <a:buNone/>
            </a:pPr>
            <a:r>
              <a:rPr/>
              <a:t>Viewed in more detail, the reduced-index configuration suggests that dropping the discontinued or older index series generally relaxes pressure on the rest of the fit. When attention is restricted to the retained comparable indices, the aggregate index likelihood declines modestly from </a:t>
            </a:r>
            <a:r>
              <a:rPr>
                <a:latin typeface="Courier"/>
              </a:rPr>
              <a:t>136.5</a:t>
            </a:r>
            <a:r>
              <a:rPr/>
              <a:t> in </a:t>
            </a:r>
            <a:r>
              <a:rPr>
                <a:latin typeface="Courier"/>
              </a:rPr>
              <a:t>h1_1.14</a:t>
            </a:r>
            <a:r>
              <a:rPr/>
              <a:t> to </a:t>
            </a:r>
            <a:r>
              <a:rPr>
                <a:latin typeface="Courier"/>
              </a:rPr>
              <a:t>130.6</a:t>
            </a:r>
            <a:r>
              <a:rPr/>
              <a:t> in </a:t>
            </a:r>
            <a:r>
              <a:rPr>
                <a:latin typeface="Courier"/>
              </a:rPr>
              <a:t>h1_2.00</a:t>
            </a:r>
            <a:r>
              <a:rPr/>
              <a:t>, and the retained Chile CPUE, Peru CPUE, and Offshore CPUE contributions all improve modestly. Fishery catch, fishery length compositions, and most fishery age-composition terms also stay similar or improve slightly. The main exception is that the Acoustic North term remains large and only weakly improved, so the reduced-index simplification does not remove the tension associated with that series.</a:t>
            </a:r>
          </a:p>
          <a:p>
            <a:pPr lvl="0" indent="0" marL="0">
              <a:buNone/>
            </a:pPr>
            <a:r>
              <a:rPr/>
              <a:t>By contrast, imposing the block selectivity structure in </a:t>
            </a:r>
            <a:r>
              <a:rPr>
                <a:latin typeface="Courier"/>
              </a:rPr>
              <a:t>h1_2.01</a:t>
            </a:r>
            <a:r>
              <a:rPr/>
              <a:t> degrades the fit across a broad range of components rather than concentrating the penalty in a single place. The South-Central Chile and North Chile fishery age-composition terms increase strongly, the aggregate fishery length-composition likelihood worsens, and the retained index contributions rise for Acoustic North, Chile CPUE, Peru CPUE, and Offshore CPUE. In that sense, the selectivity simplification is not merely trading one data source against another; it reduces flexibility in a way that propagates across several of the main observation components simultaneously.</a:t>
            </a:r>
          </a:p>
          <a:p>
            <a:pPr lvl="0" indent="0" marL="0">
              <a:buNone/>
            </a:pPr>
            <a:r>
              <a:rPr/>
              <a:t>The visual fit to the retained and comparable abundance indices is shown in Figure 4. This first comparison focuses on the base model, the reduced-index sensitivity, and the reduced-index model with block selectivity. It shows that </a:t>
            </a:r>
            <a:r>
              <a:rPr>
                <a:latin typeface="Courier"/>
              </a:rPr>
              <a:t>h1_2.00</a:t>
            </a:r>
            <a:r>
              <a:rPr/>
              <a:t> stays broadly close to </a:t>
            </a:r>
            <a:r>
              <a:rPr>
                <a:latin typeface="Courier"/>
              </a:rPr>
              <a:t>h1_1.14</a:t>
            </a:r>
            <a:r>
              <a:rPr/>
              <a:t> for the South-Central Chile CPUE, Peruvian CPUE, and Offshore CPUE series, whereas the additional selectivity simplification in </a:t>
            </a:r>
            <a:r>
              <a:rPr>
                <a:latin typeface="Courier"/>
              </a:rPr>
              <a:t>h1_2.01</a:t>
            </a:r>
            <a:r>
              <a:rPr/>
              <a:t> produces visibly worse fits for several of the retained indices, especially Acoustic North and Peru CPUE.</a:t>
            </a:r>
          </a:p>
          <a:p>
            <a:pPr lvl="0" indent="0" marL="0">
              <a:buNone/>
            </a:pPr>
          </a:p>
          <a:p>
            <a:pPr lvl="0" indent="0" marL="0">
              <a:buNone/>
            </a:pPr>
            <a:r>
              <a:rPr/>
              <a:t>Figure 4: Observed and fitted index trajectories for </a:t>
            </a:r>
            <a:r>
              <a:rPr>
                <a:latin typeface="Courier"/>
              </a:rPr>
              <a:t>h1_1.14</a:t>
            </a:r>
            <a:r>
              <a:rPr/>
              <a:t>, </a:t>
            </a:r>
            <a:r>
              <a:rPr>
                <a:latin typeface="Courier"/>
              </a:rPr>
              <a:t>h1_2.00</a:t>
            </a:r>
            <a:r>
              <a:rPr/>
              <a:t>, and </a:t>
            </a:r>
            <a:r>
              <a:rPr>
                <a:latin typeface="Courier"/>
              </a:rPr>
              <a:t>h1_2.01</a:t>
            </a:r>
            <a:r>
              <a:rPr/>
              <a:t>. Panels show the retained comparable index series: South-Central Chile CPUE, Acoustic North, Peruvian CPUE, and Offshore CPUE.</a:t>
            </a:r>
          </a:p>
          <a:p>
            <a:pPr lvl="0" indent="0" marL="0">
              <a:buNone/>
            </a:pPr>
            <a:r>
              <a:rPr b="1"/>
              <a:t>Projection-period selectivity uncertainty.</a:t>
            </a:r>
            <a:r>
              <a:rPr/>
              <a:t> The second dimension is the selectivity pattern applied during the projection period of the MSE simulation. In the current assessment, projections use fixed terminal selectivity. In MSE, the future selectivity pattern represents a real source of uncertainty, because the fishing gear and targeting behaviour that produced recent selectivities may not persist over a multi-decade evaluation horizon.</a:t>
            </a:r>
          </a:p>
          <a:p>
            <a:pPr lvl="0" indent="0" marL="0">
              <a:buNone/>
            </a:pPr>
          </a:p>
          <a:p>
            <a:pPr lvl="0" indent="0" marL="0">
              <a:buNone/>
            </a:pPr>
            <a:r>
              <a:rPr/>
              <a:t>NoteReviewer comment (I. Mosqueira)</a:t>
            </a:r>
          </a:p>
          <a:p>
            <a:pPr lvl="0" indent="0" marL="0">
              <a:buNone/>
            </a:pPr>
            <a:r>
              <a:rPr/>
              <a:t>Rather than projecting with a single terminal selectivity, the projection period can be populated with a range of average-selectivity vectors — for example averages computed over the last 1, 5, 10, 15, or 20 years of the modelled period. These alternatives span from recent directed behaviour (short averages, capturing more targeted fishing patterns) to longer integration of historical fishery change (long averages). This range directly addresses the concern raised at the July 2025 workshop that projection assumptions differ from fitting assumptions. Preliminary runs with such averaging periods have already been explored and provide a practical basis for this robustness dimension.</a:t>
            </a:r>
          </a:p>
          <a:p>
            <a:pPr lvl="0" indent="0" marL="0">
              <a:buNone/>
            </a:pPr>
            <a:r>
              <a:rPr/>
              <a:t>The block-based formulation should be regarded as the </a:t>
            </a:r>
            <a:r>
              <a:rPr b="1"/>
              <a:t>primary</a:t>
            </a:r>
            <a:r>
              <a:rPr/>
              <a:t> simplified alternative. The 1-, 5-, 10-, 15-, and 20-year rolling-average selectivity vectors should then be used as </a:t>
            </a:r>
            <a:r>
              <a:rPr b="1"/>
              <a:t>robustness tests</a:t>
            </a:r>
            <a:r>
              <a:rPr/>
              <a:t> to verify that conclusions about management procedure performance are not overly sensitive to the assumption about future selectivity patterns.</a:t>
            </a:r>
          </a:p>
          <a:p>
            <a:pPr lvl="0" indent="0" marL="0">
              <a:buNone/>
            </a:pPr>
            <a:r>
              <a:rPr/>
              <a:t>This hierarchy — block structure as primary, averaging-period variation as robustness — is consistent with the staged MSE roadmap described by Carruthers (2024) and with the more specific jack mackerel staging discussed in SPRFMO Jack Mackerel Working Group (2025), which separates operating-model specification work from robustness testing and management-procedure refinement. It is also consistent with CCSBT practice in the Bali Procedure review cycle.</a:t>
            </a:r>
          </a:p>
          <a:p>
            <a:pPr lvl="0" indent="0" marL="0">
              <a:buNone/>
            </a:pPr>
          </a:p>
          <a:p>
            <a:pPr lvl="0" indent="0" marL="0">
              <a:buNone/>
            </a:pPr>
            <a:r>
              <a:rPr/>
              <a:t>Figure 5: Comparison of spawning biomass trajectories from the reduced-index sensitivity (</a:t>
            </a:r>
            <a:r>
              <a:rPr>
                <a:latin typeface="Courier"/>
              </a:rPr>
              <a:t>h1_2.00</a:t>
            </a:r>
            <a:r>
              <a:rPr/>
              <a:t>) and the reduced-index model with fleet-specific selectivity blocks (</a:t>
            </a:r>
            <a:r>
              <a:rPr>
                <a:latin typeface="Courier"/>
              </a:rPr>
              <a:t>h1_2.01</a:t>
            </a:r>
            <a:r>
              <a:rPr/>
              <a:t>).</a:t>
            </a:r>
          </a:p>
          <a:p>
            <a:pPr lvl="0" indent="0" marL="0">
              <a:buNone/>
            </a:pPr>
          </a:p>
          <a:p>
            <a:pPr lvl="0" indent="0" marL="0">
              <a:buNone/>
            </a:pPr>
            <a:r>
              <a:rPr/>
              <a:t>Figure 6: Comparison of recruitment trajectories from the reduced-index sensitivity (</a:t>
            </a:r>
            <a:r>
              <a:rPr>
                <a:latin typeface="Courier"/>
              </a:rPr>
              <a:t>h1_2.00</a:t>
            </a:r>
            <a:r>
              <a:rPr/>
              <a:t>) and the reduced-index model with fleet-specific selectivity blocks (</a:t>
            </a:r>
            <a:r>
              <a:rPr>
                <a:latin typeface="Courier"/>
              </a:rPr>
              <a:t>h1_2.01</a:t>
            </a:r>
            <a:r>
              <a:rPr/>
              <a:t>).</a:t>
            </a:r>
          </a:p>
          <a:p>
            <a:pPr lvl="0" indent="0" marL="0">
              <a:spcBef>
                <a:spcPts val="3000"/>
              </a:spcBef>
              <a:buNone/>
            </a:pPr>
            <a:r>
              <a:rPr b="1"/>
              <a:t>6.3 Harmonized Northern Treatment</a:t>
            </a:r>
          </a:p>
          <a:p>
            <a:pPr lvl="0" indent="0" marL="0">
              <a:buNone/>
            </a:pPr>
            <a:r>
              <a:rPr/>
              <a:t>A fourth option is to harmonize how the Far North observations are treated across the single-stock and two-stock hypotheses. The objective would be to ensure that future comparisons of one-stock and two-stock MSE operating models are driven primarily by stock structure rather than by unrelated differences in selectivity regularization.</a:t>
            </a:r>
          </a:p>
          <a:p>
            <a:pPr lvl="0" indent="0" marL="0">
              <a:buNone/>
            </a:pPr>
            <a:r>
              <a:rPr/>
              <a:t>As documented in Section 4, the current difference between </a:t>
            </a:r>
            <a:r>
              <a:rPr>
                <a:latin typeface="Courier"/>
              </a:rPr>
              <a:t>h1</a:t>
            </a:r>
            <a:r>
              <a:rPr/>
              <a:t> and </a:t>
            </a:r>
            <a:r>
              <a:rPr>
                <a:latin typeface="Courier"/>
              </a:rPr>
              <a:t>h2</a:t>
            </a:r>
            <a:r>
              <a:rPr/>
              <a:t> is not purely about stock allocation. It also reflects a very different degree of flexibility in Far North fleet selectivity: </a:t>
            </a:r>
            <a:r>
              <a:rPr>
                <a:latin typeface="Courier"/>
              </a:rPr>
              <a:t>h1_1.14</a:t>
            </a:r>
            <a:r>
              <a:rPr/>
              <a:t> allows annual variation from 1981, while </a:t>
            </a:r>
            <a:r>
              <a:rPr>
                <a:latin typeface="Courier"/>
              </a:rPr>
              <a:t>h2_1.14</a:t>
            </a:r>
            <a:r>
              <a:rPr/>
              <a:t> uses a much simpler two-regime structure centred on 2002. This confound makes it difficult to attribute differences in MSE outcomes between </a:t>
            </a:r>
            <a:r>
              <a:rPr>
                <a:latin typeface="Courier"/>
              </a:rPr>
              <a:t>h1</a:t>
            </a:r>
            <a:r>
              <a:rPr/>
              <a:t> and </a:t>
            </a:r>
            <a:r>
              <a:rPr>
                <a:latin typeface="Courier"/>
              </a:rPr>
              <a:t>h2</a:t>
            </a:r>
            <a:r>
              <a:rPr/>
              <a:t> to stock structure as opposed to selectivity specification.</a:t>
            </a:r>
          </a:p>
          <a:p>
            <a:pPr lvl="0" indent="0" marL="0">
              <a:buNone/>
            </a:pPr>
          </a:p>
          <a:p>
            <a:pPr lvl="0" indent="0" marL="0">
              <a:buNone/>
            </a:pPr>
            <a:r>
              <a:rPr/>
              <a:t>NoteReviewer comment (I. Mosqueira)</a:t>
            </a:r>
          </a:p>
          <a:p>
            <a:pPr lvl="0" indent="0" marL="0">
              <a:buNone/>
            </a:pPr>
            <a:r>
              <a:rPr/>
              <a:t>The harmonization objective should be to align the </a:t>
            </a:r>
            <a:r>
              <a:rPr b="1"/>
              <a:t>selectivity structure</a:t>
            </a:r>
            <a:r>
              <a:rPr/>
              <a:t> of the Far North fleet across </a:t>
            </a:r>
            <a:r>
              <a:rPr>
                <a:latin typeface="Courier"/>
              </a:rPr>
              <a:t>h1</a:t>
            </a:r>
            <a:r>
              <a:rPr/>
              <a:t> and </a:t>
            </a:r>
            <a:r>
              <a:rPr>
                <a:latin typeface="Courier"/>
              </a:rPr>
              <a:t>h2</a:t>
            </a:r>
            <a:r>
              <a:rPr/>
              <a:t>, while retaining the </a:t>
            </a:r>
            <a:r>
              <a:rPr b="1"/>
              <a:t>biological differences</a:t>
            </a:r>
            <a:r>
              <a:rPr/>
              <a:t> that distinguish the two-stock hypothesis. In practice, this means that differences in natural mortality, growth, maturity, and weight-at-age should be preserved in </a:t>
            </a:r>
            <a:r>
              <a:rPr>
                <a:latin typeface="Courier"/>
              </a:rPr>
              <a:t>h2</a:t>
            </a:r>
            <a:r>
              <a:rPr/>
              <a:t> as currently specified. What should be harmonized is the structural form and degree of flexibility allowed in Far North fleet selectivity, so that a comparison of h1 and h2 MSE outcomes reflects stock structure rather than selectivity regularization.</a:t>
            </a:r>
          </a:p>
          <a:p>
            <a:pPr lvl="0" indent="0" marL="0">
              <a:buNone/>
            </a:pPr>
            <a:r>
              <a:rPr/>
              <a:t>One additional area that has been discussed but not yet implemented is explicit uncertainty in northern stock biology, particularly growth. The two-stock hypothesis implies different population dynamics for the northern component, but the current implementation draws on growth parameters estimated from combined data without formal uncertainty in the stock-specific parameters. Uncertainty in northern growth or natural mortality could be incorporated as candidate robustness scenarios in later MSE phases if data become available to support alternative parameterizations.</a:t>
            </a:r>
          </a:p>
          <a:p>
            <a:pPr lvl="0" indent="0" marL="0">
              <a:buNone/>
            </a:pPr>
            <a:r>
              <a:rPr/>
              <a:t>Implementing the selectivity harmonization will likely require re-fitting </a:t>
            </a:r>
            <a:r>
              <a:rPr>
                <a:latin typeface="Courier"/>
              </a:rPr>
              <a:t>h1_1.14</a:t>
            </a:r>
            <a:r>
              <a:rPr/>
              <a:t> with a simplified Far North selectivity structure that mirrors the </a:t>
            </a:r>
            <a:r>
              <a:rPr>
                <a:latin typeface="Courier"/>
              </a:rPr>
              <a:t>h2</a:t>
            </a:r>
            <a:r>
              <a:rPr/>
              <a:t> treatment, or equivalently re-fitting </a:t>
            </a:r>
            <a:r>
              <a:rPr>
                <a:latin typeface="Courier"/>
              </a:rPr>
              <a:t>h2_1.14</a:t>
            </a:r>
            <a:r>
              <a:rPr/>
              <a:t> with a more flexible Far North selectivity structure analogous to the </a:t>
            </a:r>
            <a:r>
              <a:rPr>
                <a:latin typeface="Courier"/>
              </a:rPr>
              <a:t>h1</a:t>
            </a:r>
            <a:r>
              <a:rPr/>
              <a:t> treatment. The working group should discuss which direction of harmonization is most defensible given the available data and model diagnostics.</a:t>
            </a:r>
          </a:p>
          <a:p>
            <a:pPr lvl="0" indent="0" marL="0">
              <a:buNone/>
            </a:pPr>
            <a:r>
              <a:rPr/>
              <a:t>To examine that issue more directly, I fitted two harmonized variants using the reduced-index data configuration. Model </a:t>
            </a:r>
            <a:r>
              <a:rPr>
                <a:latin typeface="Courier"/>
              </a:rPr>
              <a:t>h1_2.02</a:t>
            </a:r>
            <a:r>
              <a:rPr/>
              <a:t> is </a:t>
            </a:r>
            <a:r>
              <a:rPr>
                <a:latin typeface="Courier"/>
              </a:rPr>
              <a:t>h1_2.00</a:t>
            </a:r>
            <a:r>
              <a:rPr/>
              <a:t> with the Far North fishery selectivity simplified to the same 2002 split used in </a:t>
            </a:r>
            <a:r>
              <a:rPr>
                <a:latin typeface="Courier"/>
              </a:rPr>
              <a:t>h2_1.14</a:t>
            </a:r>
            <a:r>
              <a:rPr/>
              <a:t>, while </a:t>
            </a:r>
            <a:r>
              <a:rPr>
                <a:latin typeface="Courier"/>
              </a:rPr>
              <a:t>h2_2.02</a:t>
            </a:r>
            <a:r>
              <a:rPr/>
              <a:t> is </a:t>
            </a:r>
            <a:r>
              <a:rPr>
                <a:latin typeface="Courier"/>
              </a:rPr>
              <a:t>h2_1.14</a:t>
            </a:r>
            <a:r>
              <a:rPr/>
              <a:t> rebuilt on the reduced-index </a:t>
            </a:r>
            <a:r>
              <a:rPr>
                <a:latin typeface="Courier"/>
              </a:rPr>
              <a:t>2.00.dat</a:t>
            </a:r>
            <a:r>
              <a:rPr/>
              <a:t> data set and with the same Far North selectivity treatment. The resulting likelihood comparison is shown in Table 4, and the corresponding retained-index fits are shown in Figure 7.</a:t>
            </a:r>
          </a:p>
          <a:p>
            <a:pPr lvl="0" indent="0" marL="0">
              <a:buNone/>
            </a:pPr>
          </a:p>
          <a:p>
            <a:pPr lvl="0" indent="0" marL="0">
              <a:buNone/>
            </a:pPr>
            <a:r>
              <a:rPr/>
              <a:t>Table 4: Negative-log-likelihood components and estimated parameter counts for the reduced-index single-stock model (</a:t>
            </a:r>
            <a:r>
              <a:rPr>
                <a:latin typeface="Courier"/>
              </a:rPr>
              <a:t>h1_2.00</a:t>
            </a:r>
            <a:r>
              <a:rPr/>
              <a:t>), the harmonized single-stock variant (</a:t>
            </a:r>
            <a:r>
              <a:rPr>
                <a:latin typeface="Courier"/>
              </a:rPr>
              <a:t>h1_2.02</a:t>
            </a:r>
            <a:r>
              <a:rPr/>
              <a:t>), and the harmonized two-stock reduced-index variant (</a:t>
            </a:r>
            <a:r>
              <a:rPr>
                <a:latin typeface="Courier"/>
              </a:rPr>
              <a:t>h2_2.02</a:t>
            </a:r>
            <a:r>
              <a:rPr/>
              <a:t>). The aggregate and component index rows include only the retained comparable series: Acoustic North, Chile CPUE, Peru CPUE, and Offshore CPUE.</a:t>
            </a:r>
          </a:p>
          <a:p>
            <a:pPr lvl="0" indent="0" marL="0">
              <a:buNone/>
            </a:pPr>
            <a:r>
              <a:rPr/>
              <a:t>The retained comparable index fits for these harmonized models are shown in Figure 7. Relative to </a:t>
            </a:r>
            <a:r>
              <a:rPr>
                <a:latin typeface="Courier"/>
              </a:rPr>
              <a:t>h1_2.00</a:t>
            </a:r>
            <a:r>
              <a:rPr/>
              <a:t>, the single-stock harmonized variant </a:t>
            </a:r>
            <a:r>
              <a:rPr>
                <a:latin typeface="Courier"/>
              </a:rPr>
              <a:t>h1_2.02</a:t>
            </a:r>
            <a:r>
              <a:rPr/>
              <a:t> changes little in the South-Central Chile CPUE, Peru CPUE, and Offshore CPUE panels, while the two-stock harmonized variant </a:t>
            </a:r>
            <a:r>
              <a:rPr>
                <a:latin typeface="Courier"/>
              </a:rPr>
              <a:t>h2_2.02</a:t>
            </a:r>
            <a:r>
              <a:rPr/>
              <a:t> differs more clearly in the Acoustic North fit and in parts of the Chile CPUE trajectory.</a:t>
            </a:r>
          </a:p>
          <a:p>
            <a:pPr lvl="0" indent="0" marL="0">
              <a:buNone/>
            </a:pPr>
          </a:p>
          <a:p>
            <a:pPr lvl="0" indent="0" marL="0">
              <a:buNone/>
            </a:pPr>
            <a:r>
              <a:rPr/>
              <a:t>Figure 7: Observed and fitted index trajectories for </a:t>
            </a:r>
            <a:r>
              <a:rPr>
                <a:latin typeface="Courier"/>
              </a:rPr>
              <a:t>h1_2.00</a:t>
            </a:r>
            <a:r>
              <a:rPr/>
              <a:t>, </a:t>
            </a:r>
            <a:r>
              <a:rPr>
                <a:latin typeface="Courier"/>
              </a:rPr>
              <a:t>h1_2.02</a:t>
            </a:r>
            <a:r>
              <a:rPr/>
              <a:t>, and </a:t>
            </a:r>
            <a:r>
              <a:rPr>
                <a:latin typeface="Courier"/>
              </a:rPr>
              <a:t>h2_2.02</a:t>
            </a:r>
            <a:r>
              <a:rPr/>
              <a:t>. Panels show the retained comparable index series: South-Central Chile CPUE, Acoustic North, Peruvian CPUE, and Offshore CPUE.</a:t>
            </a:r>
          </a:p>
          <a:p>
            <a:pPr lvl="0" indent="0" marL="0">
              <a:spcBef>
                <a:spcPts val="3000"/>
              </a:spcBef>
              <a:buNone/>
            </a:pPr>
            <a:r>
              <a:rPr b="1"/>
              <a:t>6.4 Simplified Recruitment Alternatives</a:t>
            </a:r>
          </a:p>
          <a:p>
            <a:pPr lvl="0" indent="0" marL="0">
              <a:buNone/>
            </a:pPr>
            <a:r>
              <a:rPr/>
              <a:t>Another option is to reduce recruitment complexity by using one recruitment relationship per stock hypothesis, or one per stock under the two-stock model, without additional regime splitting unless that feature is shown to be essential for management performance. The preferred approach is therefore to fit a single Beverton-Holt relationship per stock in the simplified operating model, and then treat regime differences as a robustness test rather than a primary structural alternative.</a:t>
            </a:r>
          </a:p>
          <a:p>
            <a:pPr lvl="0" indent="0" marL="0">
              <a:buNone/>
            </a:pPr>
          </a:p>
          <a:p>
            <a:pPr lvl="0" indent="0" marL="0">
              <a:buNone/>
            </a:pPr>
            <a:r>
              <a:rPr/>
              <a:t>NoteReviewer comment (I. Mosqueira)</a:t>
            </a:r>
          </a:p>
          <a:p>
            <a:pPr lvl="0" indent="0" marL="0">
              <a:buNone/>
            </a:pPr>
            <a:r>
              <a:rPr/>
              <a:t>Under </a:t>
            </a:r>
            <a:r>
              <a:rPr>
                <a:latin typeface="Courier"/>
              </a:rPr>
              <a:t>h2_1.14</a:t>
            </a:r>
            <a:r>
              <a:rPr/>
              <a:t>, the northern component already includes a regime shift at 1999, and this structural feature should be preserved in that operating model to reflect the interpretation embedded in the current assessment. For the single-stock hypothesis, no formal regime splitting is assumed. Evaluating MSE performance with and without regime structure — by comparing h1 and h2 operating models and by running a version of h1 with a productivity regime break — would clarify how sensitive management procedures are to assumptions about long-run productivity.</a:t>
            </a:r>
          </a:p>
          <a:p>
            <a:pPr lvl="0" indent="0" marL="0">
              <a:buNone/>
            </a:pPr>
            <a:r>
              <a:rPr/>
              <a:t>An important diagnostic concern is that some recent recruitments already exceed the upper envelope of the fitted stock-recruitment curve. This suggests that the fitted Beverton-Holt relationship may be conservative relative to actual recruitment productivity in recent years. Future work should consider whether alternative recruitment distributions, higher ceiling values for recruitment deviations, or a revisited steepness estimate are warranted. Projecting with a recruitment distribution that truncates the upper tail of realized recruitments would be systematically pessimistic about stock productivity, which would in turn bias MSE performance comparisons toward overly cautious management conclusions.</a:t>
            </a:r>
          </a:p>
          <a:p>
            <a:pPr lvl="0" indent="0" marL="0">
              <a:spcBef>
                <a:spcPts val="3000"/>
              </a:spcBef>
              <a:buNone/>
            </a:pPr>
            <a:r>
              <a:rPr b="1"/>
              <a:t>6.5 Fixed-Reference-Point Alternatives</a:t>
            </a:r>
          </a:p>
          <a:p>
            <a:pPr lvl="0" indent="0" marL="0">
              <a:buNone/>
            </a:pPr>
            <a:r>
              <a:rPr/>
              <a:t>An issue also arose regarding fixed biomass and harvest-rate reference points</a:t>
            </a:r>
            <a:br/>
            <a:r>
              <a:rPr/>
              <a:t>rather than dynamic reference points estimated from terminal-year conditions. This would make the interpretation of management performance much clearer while still allowing later comparison back to the SC13 assessment convention.</a:t>
            </a:r>
          </a:p>
          <a:p>
            <a:pPr lvl="0" indent="0" marL="0">
              <a:buNone/>
            </a:pPr>
            <a:r>
              <a:rPr/>
              <a:t>The dynamic reference point system in the JJM — where </a:t>
            </a:r>
            <a:r>
              <a:rPr>
                <a:latin typeface="Courier"/>
              </a:rPr>
              <a:t>BMSY</a:t>
            </a:r>
            <a:r>
              <a:rPr/>
              <a:t> and </a:t>
            </a:r>
            <a:r>
              <a:rPr>
                <a:latin typeface="Courier"/>
              </a:rPr>
              <a:t>FMSY</a:t>
            </a:r>
            <a:r>
              <a:rPr/>
              <a:t> shift with terminal-year selectivity and weight-at-age — is appropriate in the annual assessment context but problematic for MSE. If reference points change every year as a function of the operating model state, it becomes difficult to distinguish genuine changes in stock productivity from artefacts of the simulation design.</a:t>
            </a:r>
          </a:p>
          <a:p>
            <a:pPr lvl="0" indent="0" marL="0">
              <a:buNone/>
            </a:pPr>
          </a:p>
          <a:p>
            <a:pPr lvl="0" indent="0" marL="0">
              <a:buNone/>
            </a:pPr>
            <a:r>
              <a:rPr/>
              <a:t>NoteReviewer comment (I. Mosqueira)</a:t>
            </a:r>
          </a:p>
          <a:p>
            <a:pPr lvl="0" indent="0" marL="0">
              <a:buNone/>
            </a:pPr>
            <a:r>
              <a:rPr/>
              <a:t>If the simplified selectivity alternative adopts block-based selectivity, then reference points should be calculated using the selectivity pattern from the </a:t>
            </a:r>
            <a:r>
              <a:rPr b="1"/>
              <a:t>final block period</a:t>
            </a:r>
            <a:r>
              <a:rPr/>
              <a:t> for all future projections. This is internally consistent: the operating model should use the same selectivity for calculating </a:t>
            </a:r>
            <a:r>
              <a:rPr>
                <a:latin typeface="Courier"/>
              </a:rPr>
              <a:t>FMSY</a:t>
            </a:r>
            <a:r>
              <a:rPr/>
              <a:t> and </a:t>
            </a:r>
            <a:r>
              <a:rPr>
                <a:latin typeface="Courier"/>
              </a:rPr>
              <a:t>BMSY</a:t>
            </a:r>
            <a:r>
              <a:rPr/>
              <a:t> as it uses for projecting future mortality. Using the last block’s selectivity as the reference configuration avoids the problem of reference points shifting mid-simulation as selectivity changes, and it is analogous to the fixed-reference-point convention already applied in several RFMO MSE programmes.</a:t>
            </a:r>
          </a:p>
          <a:p>
            <a:pPr lvl="0" indent="0" marL="0">
              <a:buNone/>
            </a:pPr>
            <a:r>
              <a:rPr/>
              <a:t>The recommended approach is therefore to calculate reference points once, using the terminal selectivity block and the current biological schedules, and use those fixed values as management benchmarks throughout the MSE simulation. Sensitivity to the choice of reference period can be examined as part of robustness testing.</a:t>
            </a:r>
          </a:p>
          <a:p>
            <a:pPr lvl="0" indent="0" marL="0">
              <a:spcBef>
                <a:spcPts val="3000"/>
              </a:spcBef>
              <a:buNone/>
            </a:pPr>
            <a:r>
              <a:rPr b="1"/>
              <a:t>7 Summary</a:t>
            </a:r>
          </a:p>
          <a:p>
            <a:pPr lvl="0" indent="0" marL="0">
              <a:buNone/>
            </a:pPr>
            <a:r>
              <a:rPr/>
              <a:t>The evaluations presented here are meant as discussion items leading into the benchmark workshop. One set of potential issue has emerged for further consideration by the group:</a:t>
            </a:r>
          </a:p>
          <a:p>
            <a:pPr lvl="0" indent="-342900" marL="342900">
              <a:buAutoNum type="arabicPeriod"/>
            </a:pPr>
            <a:r>
              <a:rPr b="1"/>
              <a:t>Selectivity block structure</a:t>
            </a:r>
            <a:r>
              <a:rPr/>
              <a:t> should be the primary simplification, reducing annual deviations to a tractable number of regime periods per fleet.</a:t>
            </a:r>
          </a:p>
          <a:p>
            <a:pPr lvl="0" indent="-342900" marL="342900">
              <a:buAutoNum type="arabicPeriod"/>
            </a:pPr>
            <a:r>
              <a:rPr b="1"/>
              <a:t>Projection-period selectivity uncertainty</a:t>
            </a:r>
            <a:r>
              <a:rPr/>
              <a:t> should be represented by a range of averaging-period options (1, 5, 10, 15, 20 years), evaluated as robustness operating models.</a:t>
            </a:r>
          </a:p>
          <a:p>
            <a:pPr lvl="0" indent="-342900" marL="342900">
              <a:buAutoNum type="arabicPeriod"/>
            </a:pPr>
            <a:r>
              <a:rPr b="1"/>
              <a:t>Index influence</a:t>
            </a:r>
            <a:r>
              <a:rPr/>
              <a:t> — particularly from the Chilean acoustic survey — should be examined through a leave-one-out robustness axis, noting that </a:t>
            </a:r>
            <a:r>
              <a:rPr>
                <a:latin typeface="Courier"/>
              </a:rPr>
              <a:t>cjm.oem</a:t>
            </a:r>
            <a:r>
              <a:rPr/>
              <a:t> already supports this infrastructure.</a:t>
            </a:r>
          </a:p>
          <a:p>
            <a:pPr lvl="0" indent="-342900" marL="342900">
              <a:buAutoNum type="arabicPeriod"/>
            </a:pPr>
            <a:r>
              <a:rPr b="1"/>
              <a:t>Recruitment regime differences</a:t>
            </a:r>
            <a:r>
              <a:rPr/>
              <a:t> should be preserved in </a:t>
            </a:r>
            <a:r>
              <a:rPr>
                <a:latin typeface="Courier"/>
              </a:rPr>
              <a:t>h2</a:t>
            </a:r>
            <a:r>
              <a:rPr/>
              <a:t> and examined as a robustness dimension in </a:t>
            </a:r>
            <a:r>
              <a:rPr>
                <a:latin typeface="Courier"/>
              </a:rPr>
              <a:t>h1</a:t>
            </a:r>
            <a:r>
              <a:rPr/>
              <a:t>, with explicit attention to recent above-curve recruitments.</a:t>
            </a:r>
          </a:p>
          <a:p>
            <a:pPr lvl="0" indent="-342900" marL="342900">
              <a:buAutoNum type="arabicPeriod"/>
            </a:pPr>
            <a:r>
              <a:rPr b="1"/>
              <a:t>Reference points</a:t>
            </a:r>
            <a:r>
              <a:rPr/>
              <a:t> should be fixed using the terminal selectivity block, calculated once before MSE simulation begins, to ensure internal consistency.</a:t>
            </a:r>
          </a:p>
          <a:p>
            <a:pPr lvl="0" indent="-342900" marL="342900">
              <a:buAutoNum type="arabicPeriod"/>
            </a:pPr>
            <a:r>
              <a:rPr b="1"/>
              <a:t>Far North selectivity</a:t>
            </a:r>
            <a:r>
              <a:rPr/>
              <a:t> should be harmonized across </a:t>
            </a:r>
            <a:r>
              <a:rPr>
                <a:latin typeface="Courier"/>
              </a:rPr>
              <a:t>h1</a:t>
            </a:r>
            <a:r>
              <a:rPr/>
              <a:t> and </a:t>
            </a:r>
            <a:r>
              <a:rPr>
                <a:latin typeface="Courier"/>
              </a:rPr>
              <a:t>h2</a:t>
            </a:r>
            <a:r>
              <a:rPr/>
              <a:t> before operating model comparisons, while retaining the biological differences (M, maturity, weight-at-age) that motivate the two-stock hypothesis.</a:t>
            </a:r>
          </a:p>
          <a:p>
            <a:pPr lvl="0" indent="-342900" marL="342900">
              <a:buAutoNum type="arabicPeriod"/>
            </a:pPr>
            <a:r>
              <a:rPr b="1"/>
              <a:t>Northern stock biology uncertainty</a:t>
            </a:r>
            <a:r>
              <a:rPr/>
              <a:t> (growth, M) should be noted as a candidate robustness scenario for later phases of the MSE programme.</a:t>
            </a:r>
          </a:p>
          <a:p>
            <a:pPr lvl="0" indent="0" marL="0">
              <a:buNone/>
            </a:pPr>
            <a:r>
              <a:rPr/>
              <a:t>In this document we constructed and compared simplified alternatives. There were some important differences in the results but broadly they remain faithful to the SC13 assessment picture. The next steps will be to evaluate the potential improvements to the standardization of indices.</a:t>
            </a:r>
          </a:p>
          <a:p>
            <a:pPr lvl="0" indent="0" marL="0">
              <a:spcBef>
                <a:spcPts val="3000"/>
              </a:spcBef>
              <a:buNone/>
            </a:pPr>
            <a:r>
              <a:rPr b="1"/>
              <a:t>Appendix: Compact Equation Summary</a:t>
            </a:r>
          </a:p>
          <a:p>
            <a:pPr lvl="0" indent="0" marL="0">
              <a:buNone/>
            </a:pPr>
            <a:r>
              <a:rPr/>
              <a:t>This appendix gives a compact schematic description of the equations underlying the SC13 Joint Jack Mackerel Model. It is intended to summarize the structure used in this working paper rather than to reproduce every implementation detail of the ADMB code or every option described in the technical annex and user guide.</a:t>
            </a:r>
          </a:p>
          <a:p>
            <a:pPr lvl="0" indent="0" marL="0">
              <a:spcBef>
                <a:spcPts val="3000"/>
              </a:spcBef>
              <a:buNone/>
            </a:pPr>
            <a:r>
              <a:rPr b="1"/>
              <a:t>7.1 Notation</a:t>
            </a:r>
          </a:p>
          <a:p>
            <a:pPr lvl="0" indent="0" marL="0">
              <a:buNone/>
            </a:pPr>
            <a:r>
              <a:rPr/>
              <a:t>Let s index stock, f fishery fleet, i abundance index, a age, l length bin, and y year. Let A denote the plus group age. The main state variable is numbers at age, N_{s,a,y}, at the start of year y.</a:t>
            </a:r>
          </a:p>
          <a:p>
            <a:pPr lvl="0" indent="0" marL="0">
              <a:buNone/>
            </a:pPr>
            <a:r>
              <a:rPr/>
              <a:t>The biological and fishery quantities used below are:</a:t>
            </a:r>
          </a:p>
          <a:p>
            <a:pPr lvl="0" indent="-342900" marL="342900">
              <a:buAutoNum type="arabicPeriod"/>
            </a:pPr>
            <a:r>
              <a:rPr/>
              <a:t>M_{s,a}: natural mortality;</a:t>
            </a:r>
          </a:p>
          <a:p>
            <a:pPr lvl="0" indent="-342900" marL="342900">
              <a:buAutoNum type="arabicPeriod"/>
            </a:pPr>
            <a:r>
              <a:rPr/>
              <a:t>S^{F}_{f,s,a,y}: fishery selectivity;</a:t>
            </a:r>
          </a:p>
          <a:p>
            <a:pPr lvl="0" indent="-342900" marL="342900">
              <a:buAutoNum type="arabicPeriod"/>
            </a:pPr>
            <a:r>
              <a:rPr/>
              <a:t>S^{I}_{i,s,a,y}: survey or index selectivity;</a:t>
            </a:r>
          </a:p>
          <a:p>
            <a:pPr lvl="0" indent="-342900" marL="342900">
              <a:buAutoNum type="arabicPeriod"/>
            </a:pPr>
            <a:r>
              <a:rPr/>
              <a:t>w^{\mathrm{pop}}_{s,a,y}, w^{\mathrm{catch}}_{f,s,a,y}, and w^{I}_{i,s,a,y}: population, catch, and index weights at age;</a:t>
            </a:r>
          </a:p>
          <a:p>
            <a:pPr lvl="0" indent="-342900" marL="342900">
              <a:buAutoNum type="arabicPeriod"/>
            </a:pPr>
            <a:r>
              <a:rPr/>
              <a:t>m_{s,a}: maturity at age;</a:t>
            </a:r>
          </a:p>
          <a:p>
            <a:pPr lvl="0" indent="-342900" marL="342900">
              <a:buAutoNum type="arabicPeriod"/>
            </a:pPr>
            <a:r>
              <a:rPr/>
              <a:t>q_i: catchability for abundance index i.</a:t>
            </a:r>
          </a:p>
          <a:p>
            <a:pPr lvl="0" indent="0" marL="0">
              <a:spcBef>
                <a:spcPts val="3000"/>
              </a:spcBef>
              <a:buNone/>
            </a:pPr>
            <a:r>
              <a:rPr b="1"/>
              <a:t>7.2 Population Update</a:t>
            </a:r>
          </a:p>
          <a:p>
            <a:pPr lvl="0" indent="0" marL="0">
              <a:buNone/>
            </a:pPr>
            <a:r>
              <a:rPr/>
              <a:t>For each stock, total mortality at age is</a:t>
            </a:r>
          </a:p>
          <a:p>
            <a:pPr lvl="0" indent="0" marL="0">
              <a:buNone/>
            </a:pPr>
            <a:r>
              <a:rPr/>
              <a:t> Z_{s,a,y} = M_{s,a} + \sum_f F_{f,s,a,y}. </a:t>
            </a:r>
          </a:p>
          <a:p>
            <a:pPr lvl="0" indent="0" marL="0">
              <a:buNone/>
            </a:pPr>
            <a:r>
              <a:rPr/>
              <a:t>Recruitment enters age 1:</a:t>
            </a:r>
          </a:p>
          <a:p>
            <a:pPr lvl="0" indent="0" marL="0">
              <a:buNone/>
            </a:pPr>
            <a:r>
              <a:rPr/>
              <a:t> N_{s,1,y} = R_{s,y}. </a:t>
            </a:r>
          </a:p>
          <a:p>
            <a:pPr lvl="0" indent="0" marL="0">
              <a:buNone/>
            </a:pPr>
            <a:r>
              <a:rPr/>
              <a:t>For ages a = 1, \ldots, A-2, cohort survival follows</a:t>
            </a:r>
          </a:p>
          <a:p>
            <a:pPr lvl="0" indent="0" marL="0">
              <a:buNone/>
            </a:pPr>
            <a:r>
              <a:rPr/>
              <a:t> N_{s,a+1,y+1} = N_{s,a,y}\exp(-Z_{s,a,y}). </a:t>
            </a:r>
          </a:p>
          <a:p>
            <a:pPr lvl="0" indent="0" marL="0">
              <a:buNone/>
            </a:pPr>
            <a:r>
              <a:rPr/>
              <a:t>The plus group is updated as</a:t>
            </a:r>
          </a:p>
          <a:p>
            <a:pPr lvl="0" indent="0" marL="0">
              <a:buNone/>
            </a:pPr>
            <a:r>
              <a:rPr/>
              <a:t> \begin{aligned} N_{s,A,y+1} &amp;= N_{s,A-1,y}\exp(-Z_{s,A-1,y}) \\ &amp;\quad + N_{s,A,y}\exp(-Z_{s,A,y}). \end{aligned} </a:t>
            </a:r>
          </a:p>
          <a:p>
            <a:pPr lvl="0" indent="0" marL="0">
              <a:buNone/>
            </a:pPr>
            <a:r>
              <a:rPr/>
              <a:t>Spawning biomass is calculated from mature biomass at the spawning time within the year:</a:t>
            </a:r>
          </a:p>
          <a:p>
            <a:pPr lvl="0" indent="0" marL="0">
              <a:buNone/>
            </a:pPr>
            <a:r>
              <a:rPr/>
              <a:t> SSB_{s,y} = \sum_a N_{s,a,y}\exp(-\tau Z_{s,a,y}) \, m_{s,a} \, w^{\mathrm{pop}}_{s,a,y}. </a:t>
            </a:r>
          </a:p>
          <a:p>
            <a:pPr lvl="0" indent="0" marL="0">
              <a:buNone/>
            </a:pPr>
            <a:r>
              <a:rPr/>
              <a:t>where \tau is the fraction of annual mortality occurring before spawning.</a:t>
            </a:r>
          </a:p>
          <a:p>
            <a:pPr lvl="0" indent="0" marL="0">
              <a:spcBef>
                <a:spcPts val="3000"/>
              </a:spcBef>
              <a:buNone/>
            </a:pPr>
            <a:r>
              <a:rPr b="1"/>
              <a:t>7.3 Stock-Recruitment Relationship</a:t>
            </a:r>
          </a:p>
          <a:p>
            <a:pPr lvl="0" indent="0" marL="0">
              <a:buNone/>
            </a:pPr>
            <a:r>
              <a:rPr/>
              <a:t>The annex states that the JJM uses a stochastic Beverton-Holt relationship. In compact form,</a:t>
            </a:r>
          </a:p>
          <a:p>
            <a:pPr lvl="0" indent="0" marL="0">
              <a:buNone/>
            </a:pPr>
            <a:r>
              <a:rPr/>
              <a:t> R_{s,y} = \frac{4h_s R_{0,s} SSB_{s,y-\delta}} {B_{0,s}(1-h_s) + SSB_{s,y-\delta}(5h_s - 1)} \exp\left(\varepsilon_{s,y} - \frac{\sigma_{R,s}^2}{2}\right). </a:t>
            </a:r>
          </a:p>
          <a:p>
            <a:pPr lvl="0" indent="0" marL="0">
              <a:buNone/>
            </a:pPr>
            <a:r>
              <a:rPr/>
              <a:t>where h_s is steepness, R_{0,s} is unfished recruitment, B_{0,s} is unfished spawning biomass, \delta is the lag from spawning to recruitment, and \varepsilon_{s,y} is the annual recruitment deviation.</a:t>
            </a:r>
          </a:p>
          <a:p>
            <a:pPr lvl="0" indent="0" marL="0">
              <a:buNone/>
            </a:pPr>
            <a:r>
              <a:rPr/>
              <a:t>Under </a:t>
            </a:r>
            <a:r>
              <a:rPr>
                <a:latin typeface="Courier"/>
              </a:rPr>
              <a:t>h1_1.14</a:t>
            </a:r>
            <a:r>
              <a:rPr/>
              <a:t>, this relationship is applied to a single stock with one recruitment regime. Under </a:t>
            </a:r>
            <a:r>
              <a:rPr>
                <a:latin typeface="Courier"/>
              </a:rPr>
              <a:t>h2_1.14</a:t>
            </a:r>
            <a:r>
              <a:rPr/>
              <a:t>, recruitment is assigned across two stocks with a more complex regime structure, including the 1999 shift described in the control file.</a:t>
            </a:r>
          </a:p>
          <a:p>
            <a:pPr lvl="0" indent="0" marL="0">
              <a:spcBef>
                <a:spcPts val="3000"/>
              </a:spcBef>
              <a:buNone/>
            </a:pPr>
            <a:r>
              <a:rPr b="1"/>
              <a:t>7.4 Fishing Mortality and Catch</a:t>
            </a:r>
          </a:p>
          <a:p>
            <a:pPr lvl="0" indent="0" marL="0">
              <a:buNone/>
            </a:pPr>
            <a:r>
              <a:rPr/>
              <a:t>The annex describes fishing mortality as the product of fleet-specific selectivity and an annual fishing-intensity term. A compact representation is</a:t>
            </a:r>
          </a:p>
          <a:p>
            <a:pPr lvl="0" indent="0" marL="0">
              <a:buNone/>
            </a:pPr>
            <a:r>
              <a:rPr/>
              <a:t> F_{f,s,a,y} = f_{f,y} S^{F}_{f,s,a,y}. </a:t>
            </a:r>
          </a:p>
          <a:p>
            <a:pPr lvl="0" indent="0" marL="0">
              <a:buNone/>
            </a:pPr>
            <a:r>
              <a:rPr/>
              <a:t>where f_{f,y} is the year-specific fleet intensity after incorporating the effort-to-mortality scaling and annual deviations used in the fitted model.</a:t>
            </a:r>
          </a:p>
          <a:p>
            <a:pPr lvl="0" indent="0" marL="0">
              <a:buNone/>
            </a:pPr>
            <a:r>
              <a:rPr/>
              <a:t>Predicted catch in numbers at age follows the Baranov catch equation:</a:t>
            </a:r>
          </a:p>
          <a:p>
            <a:pPr lvl="0" indent="0" marL="0">
              <a:buNone/>
            </a:pPr>
            <a:r>
              <a:rPr/>
              <a:t> C^{N}_{f,s,a,y} = N_{s,a,y} \, \frac{F_{f,s,a,y}}{Z_{s,a,y}} \, \left(1-\exp(-Z_{s,a,y})\right). </a:t>
            </a:r>
          </a:p>
          <a:p>
            <a:pPr lvl="0" indent="0" marL="0">
              <a:buNone/>
            </a:pPr>
            <a:r>
              <a:rPr/>
              <a:t>Predicted catch in biomass for fleet f is then</a:t>
            </a:r>
          </a:p>
          <a:p>
            <a:pPr lvl="0" indent="0" marL="0">
              <a:buNone/>
            </a:pPr>
            <a:r>
              <a:rPr/>
              <a:t> C^{B}_{f,y} = \sum_s \sum_a C^{N}_{f,s,a,y} \, w^{\mathrm{catch}}_{f,s,a,y}. </a:t>
            </a:r>
          </a:p>
          <a:p>
            <a:pPr lvl="0" indent="0" marL="0">
              <a:spcBef>
                <a:spcPts val="3000"/>
              </a:spcBef>
              <a:buNone/>
            </a:pPr>
            <a:r>
              <a:rPr b="1"/>
              <a:t>7.5 Abundance Indices</a:t>
            </a:r>
          </a:p>
          <a:p>
            <a:pPr lvl="0" indent="0" marL="0">
              <a:buNone/>
            </a:pPr>
            <a:r>
              <a:rPr/>
              <a:t>For abundance index i, the predicted index is a catchability-scaled vulnerable biomass or abundance quantity:</a:t>
            </a:r>
          </a:p>
          <a:p>
            <a:pPr lvl="0" indent="0" marL="0">
              <a:buNone/>
            </a:pPr>
            <a:r>
              <a:rPr/>
              <a:t> \begin{aligned} I^{\mathrm{pred}}_{i,y} &amp;= q_i \sum_s \sum_a N_{s,a,y}\exp(-\lambda_i Z_{s,a,y}) \\ &amp;\quad \times S^{I}_{i,s,a,y} \, w^{I}_{i,s,a,y}. \end{aligned} </a:t>
            </a:r>
          </a:p>
          <a:p>
            <a:pPr lvl="0" indent="0" marL="0">
              <a:buNone/>
            </a:pPr>
            <a:r>
              <a:rPr/>
              <a:t>where \lambda_i places the survey or CPUE observation within the year. This expression is schematic because some indices are closer to numbers-at-age and others to biomass, but it captures the model logic used across the SC13 index components.</a:t>
            </a:r>
          </a:p>
          <a:p>
            <a:pPr lvl="0" indent="0" marL="0">
              <a:spcBef>
                <a:spcPts val="3000"/>
              </a:spcBef>
              <a:buNone/>
            </a:pPr>
            <a:r>
              <a:rPr b="1"/>
              <a:t>7.6 Age and Length Compositions</a:t>
            </a:r>
          </a:p>
          <a:p>
            <a:pPr lvl="0" indent="0" marL="0">
              <a:buNone/>
            </a:pPr>
            <a:r>
              <a:rPr/>
              <a:t>Predicted fishery or survey age composition is obtained by normalizing predicted numbers-at-age in the relevant observation:</a:t>
            </a:r>
          </a:p>
          <a:p>
            <a:pPr lvl="0" indent="0" marL="0">
              <a:buNone/>
            </a:pPr>
            <a:r>
              <a:rPr/>
              <a:t> p^{\mathrm{age}}_{g,a,y} = \frac{n^{\mathrm{pred}}_{g,a,y}} {\sum_a n^{\mathrm{pred}}_{g,a,y}}. </a:t>
            </a:r>
          </a:p>
          <a:p>
            <a:pPr lvl="0" indent="0" marL="0">
              <a:buNone/>
            </a:pPr>
            <a:r>
              <a:rPr/>
              <a:t>where g denotes the fleet or survey being sampled.</a:t>
            </a:r>
          </a:p>
          <a:p>
            <a:pPr lvl="0" indent="0" marL="0">
              <a:buNone/>
            </a:pPr>
            <a:r>
              <a:rPr/>
              <a:t>For the Far North fleet, predicted age compositions are converted to predicted length compositions through the growth model:</a:t>
            </a:r>
          </a:p>
          <a:p>
            <a:pPr lvl="0" indent="0" marL="0">
              <a:buNone/>
            </a:pPr>
            <a:r>
              <a:rPr/>
              <a:t> p^{\mathrm{len}}_{f,l,y} = \sum_a p^{\mathrm{age}}_{f,a,y} \, g_{f,l \mid a}. </a:t>
            </a:r>
          </a:p>
          <a:p>
            <a:pPr lvl="0" indent="0" marL="0">
              <a:buNone/>
            </a:pPr>
            <a:r>
              <a:rPr/>
              <a:t>where g_{f,l \mid a} is the probability of a fish of age a being observed in length bin l, derived from the von Bertalanffy growth specification used by the model.</a:t>
            </a:r>
          </a:p>
          <a:p>
            <a:pPr lvl="0" indent="0" marL="0">
              <a:spcBef>
                <a:spcPts val="3000"/>
              </a:spcBef>
              <a:buNone/>
            </a:pPr>
            <a:r>
              <a:rPr b="1"/>
              <a:t>7.7 Observation Likelihoods</a:t>
            </a:r>
          </a:p>
          <a:p>
            <a:pPr lvl="0" indent="0" marL="0">
              <a:buNone/>
            </a:pPr>
            <a:r>
              <a:rPr/>
              <a:t>The annex indicates log-normal likelihoods for catches and abundance indices, and multinomial likelihoods for age and length compositions.</a:t>
            </a:r>
          </a:p>
          <a:p>
            <a:pPr lvl="0" indent="0" marL="0">
              <a:buNone/>
            </a:pPr>
            <a:r>
              <a:rPr/>
              <a:t>For catches and indices, the negative log-likelihood contribution is written schematically as</a:t>
            </a:r>
          </a:p>
          <a:p>
            <a:pPr lvl="0" indent="0" marL="0">
              <a:buNone/>
            </a:pPr>
            <a:r>
              <a:rPr/>
              <a:t> \ell_{\mathrm{LN}} = \sum_y \frac{\left[\log(O_y)-\log(P_y)\right]^2}{2\sigma_y^2}. </a:t>
            </a:r>
          </a:p>
          <a:p>
            <a:pPr lvl="0" indent="0" marL="0">
              <a:buNone/>
            </a:pPr>
            <a:r>
              <a:rPr/>
              <a:t>where O_y and P_y are observed and predicted values.</a:t>
            </a:r>
          </a:p>
          <a:p>
            <a:pPr lvl="0" indent="0" marL="0">
              <a:buNone/>
            </a:pPr>
            <a:r>
              <a:rPr/>
              <a:t>For age or length compositions, with effective sample size n_{g,y},</a:t>
            </a:r>
          </a:p>
          <a:p>
            <a:pPr lvl="0" indent="0" marL="0">
              <a:buNone/>
            </a:pPr>
            <a:r>
              <a:rPr/>
              <a:t> \ell_{\mathrm{mult}} = -\sum_y n_{g,y} \sum_k o_{g,k,y}\log\left(p_{g,k,y}\right). </a:t>
            </a:r>
          </a:p>
          <a:p>
            <a:pPr lvl="0" indent="0" marL="0">
              <a:buNone/>
            </a:pPr>
            <a:r>
              <a:rPr/>
              <a:t>where k indexes age or length bins, o_{g,k,y} is the observed proportion, and p_{g,k,y} is the predicted proportion.</a:t>
            </a:r>
          </a:p>
          <a:p>
            <a:pPr lvl="0" indent="0" marL="0">
              <a:buNone/>
            </a:pPr>
            <a:r>
              <a:rPr/>
              <a:t>The SC13 model uses Francis weighting for age-composition effective sample sizes, so the composition likelihood is strongly affected by those externally specified weights.</a:t>
            </a:r>
          </a:p>
          <a:p>
            <a:pPr lvl="0" indent="0" marL="0">
              <a:spcBef>
                <a:spcPts val="3000"/>
              </a:spcBef>
              <a:buNone/>
            </a:pPr>
            <a:r>
              <a:rPr b="1"/>
              <a:t>7.8 Objective Function</a:t>
            </a:r>
          </a:p>
          <a:p>
            <a:pPr lvl="0" indent="0" marL="0">
              <a:buNone/>
            </a:pPr>
            <a:r>
              <a:rPr/>
              <a:t>The full estimation criterion combines data likelihoods, priors, and smoothing penalties:</a:t>
            </a:r>
          </a:p>
          <a:p>
            <a:pPr lvl="0" indent="0" marL="0">
              <a:buNone/>
            </a:pPr>
            <a:r>
              <a:rPr/>
              <a:t> \mathcal{L} = \ell_{\mathrm{catch}} + \ell_{\mathrm{index}} + \ell_{\mathrm{age}} + \ell_{\mathrm{len}} + \ell_{\mathrm{priors}} + \ell_{\mathrm{sel}}. </a:t>
            </a:r>
          </a:p>
          <a:p>
            <a:pPr lvl="0" indent="0" marL="0">
              <a:buNone/>
            </a:pPr>
            <a:r>
              <a:rPr/>
              <a:t>The final term, \ell_{\mathrm{sel}}, is especially important in SC13 because the model includes extensive penalties on fishery and survey selectivity trajectories to regularize the time-varying non-parametric selectivity schedules.</a:t>
            </a:r>
          </a:p>
          <a:p>
            <a:pPr lvl="0" indent="0" marL="0">
              <a:spcBef>
                <a:spcPts val="3000"/>
              </a:spcBef>
              <a:buNone/>
            </a:pPr>
            <a:r>
              <a:rPr b="1"/>
              <a:t>7.9 Dynamic Reference Points</a:t>
            </a:r>
          </a:p>
          <a:p>
            <a:pPr lvl="0" indent="0" marL="0">
              <a:buNone/>
            </a:pPr>
            <a:r>
              <a:rPr/>
              <a:t>The annex states that the JJM calculates equilibrium reference points internally using terminal-year catch shares, selectivity-at-age, and weights-at-age. In compact form,</a:t>
            </a:r>
          </a:p>
          <a:p>
            <a:pPr lvl="0" indent="0" marL="0">
              <a:buNone/>
            </a:pPr>
            <a:r>
              <a:rPr/>
              <a:t> F_{\mathrm{MSY},y} = \operatorname*{arg\,max}_{F} C^{\mathrm{eq}}_y(F). </a:t>
            </a:r>
          </a:p>
          <a:p>
            <a:pPr lvl="0" indent="0" marL="0">
              <a:buNone/>
            </a:pPr>
            <a:r>
              <a:rPr/>
              <a:t> MSY_y = C^{\mathrm{eq}}_y(F_{\mathrm{MSY},y}). </a:t>
            </a:r>
          </a:p>
          <a:p>
            <a:pPr lvl="0" indent="0" marL="0">
              <a:buNone/>
            </a:pPr>
            <a:r>
              <a:rPr/>
              <a:t> B_{\mathrm{MSY},y} = B^{\mathrm{eq}}_y(F_{\mathrm{MSY},y}). </a:t>
            </a:r>
          </a:p>
          <a:p>
            <a:pPr lvl="0" indent="0" marL="0">
              <a:buNone/>
            </a:pPr>
            <a:r>
              <a:rPr/>
              <a:t>where the equilibrium yield and biomass functions are conditional on the terminal-year fishery mix and biological schedules. This is why </a:t>
            </a:r>
            <a:r>
              <a:rPr>
                <a:latin typeface="Courier"/>
              </a:rPr>
              <a:t>FMSY</a:t>
            </a:r>
            <a:r>
              <a:rPr/>
              <a:t>, </a:t>
            </a:r>
            <a:r>
              <a:rPr>
                <a:latin typeface="Courier"/>
              </a:rPr>
              <a:t>MSY</a:t>
            </a:r>
            <a:r>
              <a:rPr/>
              <a:t>, and </a:t>
            </a:r>
            <a:r>
              <a:rPr>
                <a:latin typeface="Courier"/>
              </a:rPr>
              <a:t>BMSY</a:t>
            </a:r>
            <a:r>
              <a:rPr/>
              <a:t> vary through time in the SC13 assessment rather than remaining fixed constants.</a:t>
            </a:r>
          </a:p>
          <a:p>
            <a:pPr lvl="0" indent="0" marL="0">
              <a:spcBef>
                <a:spcPts val="3000"/>
              </a:spcBef>
              <a:buNone/>
            </a:pPr>
            <a:r>
              <a:rPr b="1"/>
              <a:t>References</a:t>
            </a:r>
          </a:p>
          <a:p>
            <a:pPr lvl="0" indent="0" marL="0">
              <a:buNone/>
            </a:pPr>
            <a:r>
              <a:rPr/>
              <a:t>Bertalanffy, L. von. (1957). Quantitative laws in metabolism and growth. </a:t>
            </a:r>
            <a:r>
              <a:rPr i="1"/>
              <a:t>The Quarterly Review of Biology</a:t>
            </a:r>
            <a:r>
              <a:rPr/>
              <a:t>, </a:t>
            </a:r>
            <a:r>
              <a:rPr i="1"/>
              <a:t>32</a:t>
            </a:r>
            <a:r>
              <a:rPr/>
              <a:t>(3), 217–231. </a:t>
            </a:r>
            <a:r>
              <a:rPr>
                <a:hlinkClick r:id="rId5"/>
              </a:rPr>
              <a:t>https://doi.org/10.1086/401873</a:t>
            </a:r>
          </a:p>
          <a:p>
            <a:pPr lvl="0" indent="0" marL="0">
              <a:buNone/>
            </a:pPr>
            <a:r>
              <a:rPr/>
              <a:t>Beverton, R. J. H., &amp; Holt, S. J. (1957). </a:t>
            </a:r>
            <a:r>
              <a:rPr i="1"/>
              <a:t>On the dynamics of exploited fish populations</a:t>
            </a:r>
            <a:r>
              <a:rPr/>
              <a:t> (Vol. 19, p. 533). H. M. Stationery Office.</a:t>
            </a:r>
          </a:p>
          <a:p>
            <a:pPr lvl="0" indent="0" marL="0">
              <a:buNone/>
            </a:pPr>
            <a:r>
              <a:rPr/>
              <a:t>Butterworth, D. S., &amp; Punt, A. E. (1999). Experiences in the evaluation and implementation of management procedures. </a:t>
            </a:r>
            <a:r>
              <a:rPr i="1"/>
              <a:t>ICES Journal of Marine Science</a:t>
            </a:r>
            <a:r>
              <a:rPr/>
              <a:t>, </a:t>
            </a:r>
            <a:r>
              <a:rPr i="1"/>
              <a:t>56</a:t>
            </a:r>
            <a:r>
              <a:rPr/>
              <a:t>(6), 985–998. </a:t>
            </a:r>
            <a:r>
              <a:rPr>
                <a:hlinkClick r:id="rId6"/>
              </a:rPr>
              <a:t>https://doi.org/10.1006/jmsc.1999.0532</a:t>
            </a:r>
          </a:p>
          <a:p>
            <a:pPr lvl="0" indent="0" marL="0">
              <a:buNone/>
            </a:pPr>
            <a:r>
              <a:rPr/>
              <a:t>Carruthers, T. R. (2024). An updated roadmap for MSE development. </a:t>
            </a:r>
            <a:r>
              <a:rPr i="1"/>
              <a:t>Collective Volume of Scientific Papers ICCAT</a:t>
            </a:r>
            <a:r>
              <a:rPr/>
              <a:t>, </a:t>
            </a:r>
            <a:r>
              <a:rPr i="1"/>
              <a:t>81</a:t>
            </a:r>
            <a:r>
              <a:rPr/>
              <a:t>(2), 1–14. </a:t>
            </a:r>
            <a:r>
              <a:rPr>
                <a:hlinkClick r:id="rId7"/>
              </a:rPr>
              <a:t>https://www.iccat.int/Documents/CVSP/CV081_2024/n_2/CV08102149.pdf</a:t>
            </a:r>
          </a:p>
          <a:p>
            <a:pPr lvl="0" indent="0" marL="0">
              <a:buNone/>
            </a:pPr>
            <a:r>
              <a:rPr/>
              <a:t>Fournier, D. A., Skaug, H. J., Ancheta, J., Ianelli, J., Magnusson, A., Maunder, M. N., Nielsen, A., &amp; Sibert, J. (2012). AD model builder: Using automatic differentiation for statistical inference of highly parameterized complex nonlinear models. </a:t>
            </a:r>
            <a:r>
              <a:rPr i="1"/>
              <a:t>Optimization Methods and Software</a:t>
            </a:r>
            <a:r>
              <a:rPr/>
              <a:t>, </a:t>
            </a:r>
            <a:r>
              <a:rPr i="1"/>
              <a:t>27</a:t>
            </a:r>
            <a:r>
              <a:rPr/>
              <a:t>(2), 233–249. </a:t>
            </a:r>
            <a:r>
              <a:rPr>
                <a:hlinkClick r:id="rId8"/>
              </a:rPr>
              <a:t>https://doi.org/10.1080/10556788.2011.597854</a:t>
            </a:r>
          </a:p>
          <a:p>
            <a:pPr lvl="0" indent="0" marL="0">
              <a:buNone/>
            </a:pPr>
            <a:r>
              <a:rPr/>
              <a:t>Fournier, D., &amp; Archibald, C. P. (1982). A general theory for analyzing catch at age data. </a:t>
            </a:r>
            <a:r>
              <a:rPr i="1"/>
              <a:t>Canadian Journal of Fisheries and Aquatic Sciences</a:t>
            </a:r>
            <a:r>
              <a:rPr/>
              <a:t>, </a:t>
            </a:r>
            <a:r>
              <a:rPr i="1"/>
              <a:t>39</a:t>
            </a:r>
            <a:r>
              <a:rPr/>
              <a:t>(9), 1195–1207. </a:t>
            </a:r>
            <a:r>
              <a:rPr>
                <a:hlinkClick r:id="rId9"/>
              </a:rPr>
              <a:t>https://doi.org/10.1139/f82-157</a:t>
            </a:r>
          </a:p>
          <a:p>
            <a:pPr lvl="0" indent="0" marL="0">
              <a:buNone/>
            </a:pPr>
            <a:r>
              <a:rPr/>
              <a:t>Francis, R. I. C. C. (2011). Data weighting in statistical fisheries stock assessment models. </a:t>
            </a:r>
            <a:r>
              <a:rPr i="1"/>
              <a:t>Canadian Journal of Fisheries and Aquatic Sciences</a:t>
            </a:r>
            <a:r>
              <a:rPr/>
              <a:t>, </a:t>
            </a:r>
            <a:r>
              <a:rPr i="1"/>
              <a:t>68</a:t>
            </a:r>
            <a:r>
              <a:rPr/>
              <a:t>(7), 1124–1138. </a:t>
            </a:r>
            <a:r>
              <a:rPr>
                <a:hlinkClick r:id="rId10"/>
              </a:rPr>
              <a:t>https://doi.org/10.1139/f2011-025</a:t>
            </a:r>
          </a:p>
          <a:p>
            <a:pPr lvl="0" indent="0" marL="0">
              <a:buNone/>
            </a:pPr>
            <a:r>
              <a:rPr/>
              <a:t>Hilborn, R., &amp; Walters, C. J. (1992). </a:t>
            </a:r>
            <a:r>
              <a:rPr i="1"/>
              <a:t>Quantitative fisheries stock assessment: Choice, dynamics and uncertainty</a:t>
            </a:r>
            <a:r>
              <a:rPr/>
              <a:t>. Springer. </a:t>
            </a:r>
            <a:r>
              <a:rPr>
                <a:hlinkClick r:id="rId11"/>
              </a:rPr>
              <a:t>https://doi.org/10.1007/978-1-4615-3598-0</a:t>
            </a:r>
          </a:p>
          <a:p>
            <a:pPr lvl="0" indent="0" marL="0">
              <a:buNone/>
            </a:pPr>
            <a:r>
              <a:rPr/>
              <a:t>Linton, B. C., &amp; Bence, J. R. (2011). Catch-at-age assessment in the face of time-varying selectivity. </a:t>
            </a:r>
            <a:r>
              <a:rPr i="1"/>
              <a:t>ICES Journal of Marine Science</a:t>
            </a:r>
            <a:r>
              <a:rPr/>
              <a:t>, </a:t>
            </a:r>
            <a:r>
              <a:rPr i="1"/>
              <a:t>68</a:t>
            </a:r>
            <a:r>
              <a:rPr/>
              <a:t>(3), 611–625. </a:t>
            </a:r>
            <a:r>
              <a:rPr>
                <a:hlinkClick r:id="rId12"/>
              </a:rPr>
              <a:t>https://doi.org/10.1093/icesjms/fsq173</a:t>
            </a:r>
          </a:p>
          <a:p>
            <a:pPr lvl="0" indent="0" marL="0">
              <a:buNone/>
            </a:pPr>
            <a:r>
              <a:rPr/>
              <a:t>McCullagh, P., &amp; Nelder, J. A. (1989). </a:t>
            </a:r>
            <a:r>
              <a:rPr i="1"/>
              <a:t>Generalized linear models</a:t>
            </a:r>
            <a:r>
              <a:rPr/>
              <a:t> (2nd ed.). Chapman; Hall.</a:t>
            </a:r>
          </a:p>
          <a:p>
            <a:pPr lvl="0" indent="0" marL="0">
              <a:buNone/>
            </a:pPr>
            <a:r>
              <a:rPr/>
              <a:t>Nelder, J. A., &amp; Wedderburn, R. W. M. (1972). Generalized linear models. </a:t>
            </a:r>
            <a:r>
              <a:rPr i="1"/>
              <a:t>Journal of the Royal Statistical Society. Series A (General)</a:t>
            </a:r>
            <a:r>
              <a:rPr/>
              <a:t>, </a:t>
            </a:r>
            <a:r>
              <a:rPr i="1"/>
              <a:t>135</a:t>
            </a:r>
            <a:r>
              <a:rPr/>
              <a:t>(3), 370–384. </a:t>
            </a:r>
            <a:r>
              <a:rPr>
                <a:hlinkClick r:id="rId13"/>
              </a:rPr>
              <a:t>https://doi.org/10.2307/2344614</a:t>
            </a:r>
          </a:p>
          <a:p>
            <a:pPr lvl="0" indent="0" marL="0">
              <a:buNone/>
            </a:pPr>
            <a:r>
              <a:rPr/>
              <a:t>Punt, A. E., Butterworth, D. S., Moor, C. L. de, Oliveira, J. A. A. de, &amp; Haddon, M. (2016). Management strategy evaluation: Best practices. </a:t>
            </a:r>
            <a:r>
              <a:rPr i="1"/>
              <a:t>Fish and Fisheries</a:t>
            </a:r>
            <a:r>
              <a:rPr/>
              <a:t>, </a:t>
            </a:r>
            <a:r>
              <a:rPr i="1"/>
              <a:t>17</a:t>
            </a:r>
            <a:r>
              <a:rPr/>
              <a:t>(2), 303–334. </a:t>
            </a:r>
            <a:r>
              <a:rPr>
                <a:hlinkClick r:id="rId14"/>
              </a:rPr>
              <a:t>https://doi.org/10.1111/faf.12104</a:t>
            </a:r>
          </a:p>
          <a:p>
            <a:pPr lvl="0" indent="0" marL="0">
              <a:buNone/>
            </a:pPr>
            <a:r>
              <a:rPr/>
              <a:t>Rousseau, Y., Watson, R. A., Blanchard, J. L., &amp; Fulton, E. A. (2019). Evolution of global marine fishing fleets and the response of fished resources. </a:t>
            </a:r>
            <a:r>
              <a:rPr i="1"/>
              <a:t>Proceedings of the National Academy of Sciences of the United States of America</a:t>
            </a:r>
            <a:r>
              <a:rPr/>
              <a:t>, </a:t>
            </a:r>
            <a:r>
              <a:rPr i="1"/>
              <a:t>116</a:t>
            </a:r>
            <a:r>
              <a:rPr/>
              <a:t>(25), 12238–12243. </a:t>
            </a:r>
            <a:r>
              <a:rPr>
                <a:hlinkClick r:id="rId15"/>
              </a:rPr>
              <a:t>https://doi.org/10.1073/pnas.1820344116</a:t>
            </a:r>
          </a:p>
          <a:p>
            <a:pPr lvl="0" indent="0" marL="0">
              <a:buNone/>
            </a:pPr>
            <a:r>
              <a:rPr/>
              <a:t>Schnute, J. T., &amp; Richards, L. J. (1995). The influence of error on population estimates from catch-age models. </a:t>
            </a:r>
            <a:r>
              <a:rPr i="1"/>
              <a:t>Canadian Journal of Fisheries and Aquatic Sciences</a:t>
            </a:r>
            <a:r>
              <a:rPr/>
              <a:t>, </a:t>
            </a:r>
            <a:r>
              <a:rPr i="1"/>
              <a:t>52</a:t>
            </a:r>
            <a:r>
              <a:rPr/>
              <a:t>(10), 2063–2077. </a:t>
            </a:r>
            <a:r>
              <a:rPr>
                <a:hlinkClick r:id="rId16"/>
              </a:rPr>
              <a:t>https://doi.org/10.1139/f95-800</a:t>
            </a:r>
          </a:p>
          <a:p>
            <a:pPr lvl="0" indent="0" marL="0">
              <a:buNone/>
            </a:pPr>
            <a:r>
              <a:rPr/>
              <a:t>Siple, M. C., Koehn, L. E., Johnson, K. F., Punt, A. E., Canales, T. M., Carpi, P., Moor, C. L. de, Oliveira, J. A. A. de, Gao, J., Jacobsen, N. S., Lam, M. E., Licandeo, R., Lindegren, M., Ma, S., Óskarsson, G. J., Sanchez-Maroño, S., Smoliński, S., Surma, S., Tian, Y., … Zimmermann, F. (2021). Considerations for management strategy evaluation for small pelagic fishes. </a:t>
            </a:r>
            <a:r>
              <a:rPr i="1"/>
              <a:t>Fish and Fisheries</a:t>
            </a:r>
            <a:r>
              <a:rPr/>
              <a:t>, </a:t>
            </a:r>
            <a:r>
              <a:rPr i="1"/>
              <a:t>22</a:t>
            </a:r>
            <a:r>
              <a:rPr/>
              <a:t>(6), 1167–1186. </a:t>
            </a:r>
            <a:r>
              <a:rPr>
                <a:hlinkClick r:id="rId17"/>
              </a:rPr>
              <a:t>https://doi.org/10.1111/faf.12579</a:t>
            </a:r>
          </a:p>
          <a:p>
            <a:pPr lvl="0" indent="0" marL="0">
              <a:buNone/>
            </a:pPr>
            <a:r>
              <a:rPr/>
              <a:t>SPRFMO Jack Mackerel Working Group. (2025). </a:t>
            </a:r>
            <a:r>
              <a:rPr i="1"/>
              <a:t>Report of the JMWG management strategy evaluation technical workshop (SCW15)</a:t>
            </a:r>
            <a:r>
              <a:rPr/>
              <a:t> (SC13-JM09). South Pacific Regional Fisheries Management Organisation (SPRFMO). </a:t>
            </a:r>
            <a:r>
              <a:rPr>
                <a:hlinkClick r:id="rId18"/>
              </a:rPr>
              <a:t>https://www.sprfmo.int/assets/Meetings/02-SC/13th-SC-2025/Jack-Mackerel/SC13-JM09-Report-of-the-JMWG-Management-Strategy-Evaluation-Technical-Workshop.pdf</a:t>
            </a:r>
          </a:p>
          <a:p>
            <a:pPr lvl="0" indent="0" marL="0">
              <a:buNone/>
            </a:pPr>
            <a:r>
              <a:rPr/>
              <a:t>SPRFMO Scientific Committee. (2025). </a:t>
            </a:r>
            <a:r>
              <a:rPr i="1"/>
              <a:t>Annex 11: Jack mackerel technical annex</a:t>
            </a:r>
            <a:r>
              <a:rPr/>
              <a:t>. South Pacific Regional Fisheries Management Organisation (SPRFMO). </a:t>
            </a:r>
            <a:r>
              <a:rPr>
                <a:hlinkClick r:id="rId19"/>
              </a:rPr>
              <a:t>https://sprfmo.int/assets/Meetings/02-SC/13th-SC-2025/SC13-Report-Annex-11_final.pdf</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Developments of the base SC13 model for benchmark and MSE considerations – SPRFMO Jack Mackerel Working Group</dc:title>
  <dc:creator/>
  <cp:keywords/>
  <dcterms:created xsi:type="dcterms:W3CDTF">2026-03-20T00:20:13Z</dcterms:created>
  <dcterms:modified xsi:type="dcterms:W3CDTF">2026-03-20T00:20:13Z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nerator">
    <vt:lpwstr>quarto-1.8.26</vt:lpwstr>
  </property>
  <property fmtid="{D5CDD505-2E9C-101B-9397-08002B2CF9AE}" pid="3" name="quarto:offset">
    <vt:lpwstr>./</vt:lpwstr>
  </property>
  <property fmtid="{D5CDD505-2E9C-101B-9397-08002B2CF9AE}" pid="4" name="viewport">
    <vt:lpwstr>width=device-width, initial-scale=1.0, user-scalable=yes</vt:lpwstr>
  </property>
</Properties>
</file>