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8f02940e34772" /><Relationship Type="http://schemas.openxmlformats.org/officeDocument/2006/relationships/extended-properties" Target="/docProps/app.xml" Id="R8391f55ef6d74ac8" /><Relationship Type="http://schemas.openxmlformats.org/officeDocument/2006/relationships/officeDocument" Target="/ppt/presentation.xml" Id="R239a441d6e0649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9ffecc73344979"/>
  </p:sldMasterIdLst>
  <p:notesMasterIdLst>
    <p:notesMasterId xmlns:r="http://schemas.openxmlformats.org/officeDocument/2006/relationships" r:id="R9e6620ccad1b42de"/>
  </p:notesMasterIdLst>
  <p:sldIdLst>
    <p:sldId xmlns:r="http://schemas.openxmlformats.org/officeDocument/2006/relationships" id="256" r:id="R867e1a5b6fe84ccb"/>
    <p:sldId xmlns:r="http://schemas.openxmlformats.org/officeDocument/2006/relationships" id="257" r:id="R99d6594ce56040eb"/>
    <p:sldId xmlns:r="http://schemas.openxmlformats.org/officeDocument/2006/relationships" id="258" r:id="R5ae79795d3564a2f"/>
    <p:sldId xmlns:r="http://schemas.openxmlformats.org/officeDocument/2006/relationships" id="259" r:id="Rfdd1f3304adf430a"/>
    <p:sldId xmlns:r="http://schemas.openxmlformats.org/officeDocument/2006/relationships" id="260" r:id="R5ab5a643a8044152"/>
    <p:sldId xmlns:r="http://schemas.openxmlformats.org/officeDocument/2006/relationships" id="261" r:id="Rbd8704b2b4e04774"/>
    <p:sldId xmlns:r="http://schemas.openxmlformats.org/officeDocument/2006/relationships" id="262" r:id="Rf8393f2f8a90449d"/>
    <p:sldId xmlns:r="http://schemas.openxmlformats.org/officeDocument/2006/relationships" id="263" r:id="R12a216236fa645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ffecc73344979" /><Relationship Type="http://schemas.openxmlformats.org/officeDocument/2006/relationships/theme" Target="/ppt/theme/theme1.xml" Id="Rab55401c4fc34cab" /><Relationship Type="http://schemas.openxmlformats.org/officeDocument/2006/relationships/notesMaster" Target="/ppt/notesMasters/notesMaster1.xml" Id="R9e6620ccad1b42de" /><Relationship Type="http://schemas.openxmlformats.org/officeDocument/2006/relationships/presProps" Target="/ppt/presProps.xml" Id="R8915a2e9494a4919" /><Relationship Type="http://schemas.openxmlformats.org/officeDocument/2006/relationships/viewProps" Target="/ppt/viewProps.xml" Id="R713c8d5bdb6d4fcb" /><Relationship Type="http://schemas.openxmlformats.org/officeDocument/2006/relationships/tableStyles" Target="/ppt/tableStyles.xml" Id="R7dc945bcd27c49a2" /><Relationship Type="http://schemas.openxmlformats.org/officeDocument/2006/relationships/slide" Target="/ppt/slides/slide1.xml" Id="R867e1a5b6fe84ccb" /><Relationship Type="http://schemas.openxmlformats.org/officeDocument/2006/relationships/slide" Target="/ppt/slides/slide2.xml" Id="R99d6594ce56040eb" /><Relationship Type="http://schemas.openxmlformats.org/officeDocument/2006/relationships/slide" Target="/ppt/slides/slide3.xml" Id="R5ae79795d3564a2f" /><Relationship Type="http://schemas.openxmlformats.org/officeDocument/2006/relationships/slide" Target="/ppt/slides/slide4.xml" Id="Rfdd1f3304adf430a" /><Relationship Type="http://schemas.openxmlformats.org/officeDocument/2006/relationships/slide" Target="/ppt/slides/slide5.xml" Id="R5ab5a643a8044152" /><Relationship Type="http://schemas.openxmlformats.org/officeDocument/2006/relationships/slide" Target="/ppt/slides/slide6.xml" Id="Rbd8704b2b4e04774" /><Relationship Type="http://schemas.openxmlformats.org/officeDocument/2006/relationships/slide" Target="/ppt/slides/slide7.xml" Id="Rf8393f2f8a90449d" /><Relationship Type="http://schemas.openxmlformats.org/officeDocument/2006/relationships/slide" Target="/ppt/slides/slide8.xml" Id="R12a216236fa645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e9b5e91db340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SPRFMO quiet technical">
  <a:themeElements>
    <a:clrScheme name="SPRFMO quiet technical">
      <a:accent1>
        <a:srgbClr val="2E74B5"/>
      </a:accent1>
      <a:accent2>
        <a:srgbClr val="5AB7C8"/>
      </a:accent2>
      <a:accent3>
        <a:srgbClr val="4E9F6D"/>
      </a:accent3>
      <a:accent4>
        <a:srgbClr val="D78C34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RFMO quiet technic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086183f564131" /><Relationship Type="http://schemas.openxmlformats.org/officeDocument/2006/relationships/notesMaster" Target="/ppt/notesMasters/notesMaster1.xml" Id="Rc246e381e732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095eed46746a0" /><Relationship Type="http://schemas.openxmlformats.org/officeDocument/2006/relationships/notesMaster" Target="/ppt/notesMasters/notesMaster1.xml" Id="R1ca8d783e23d4c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ffb44ebc14255" /><Relationship Type="http://schemas.openxmlformats.org/officeDocument/2006/relationships/notesMaster" Target="/ppt/notesMasters/notesMaster1.xml" Id="R5b7b55f3eb854f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b1a3ee7e24f56" /><Relationship Type="http://schemas.openxmlformats.org/officeDocument/2006/relationships/notesMaster" Target="/ppt/notesMasters/notesMaster1.xml" Id="Rd0536358f63046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b10a73e720495b" /><Relationship Type="http://schemas.openxmlformats.org/officeDocument/2006/relationships/notesMaster" Target="/ppt/notesMasters/notesMaster1.xml" Id="R77a17607e63741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001c73ac784ce0" /><Relationship Type="http://schemas.openxmlformats.org/officeDocument/2006/relationships/notesMaster" Target="/ppt/notesMasters/notesMaster1.xml" Id="R3a4ffa7c18a54b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2c59ec40f946d0" /><Relationship Type="http://schemas.openxmlformats.org/officeDocument/2006/relationships/notesMaster" Target="/ppt/notesMasters/notesMaster1.xml" Id="R6607f8a846c2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1fae306a2e4239" /><Relationship Type="http://schemas.openxmlformats.org/officeDocument/2006/relationships/notesMaster" Target="/ppt/notesMasters/notesMaster1.xml" Id="R531bd644e6e74f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da6b9c1ba4e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acd107dac964d05" /><Relationship Type="http://schemas.openxmlformats.org/officeDocument/2006/relationships/slideLayout" Target="/ppt/slideLayouts/slideLayout2.xml" Id="R607c3505898f40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c3505898f40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bd95667600489e" /><Relationship Type="http://schemas.openxmlformats.org/officeDocument/2006/relationships/image" Target="/ppt/media/image.png" Id="R3926dc1ab3164956" /><Relationship Type="http://schemas.openxmlformats.org/officeDocument/2006/relationships/notesSlide" Target="/ppt/notesSlides/notesSlide1.xml" Id="Rfec392b1d50b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9323558724500" /><Relationship Type="http://schemas.openxmlformats.org/officeDocument/2006/relationships/image" Target="/ppt/media/image2.png" Id="Rbe474b1a48cd4bc9" /><Relationship Type="http://schemas.openxmlformats.org/officeDocument/2006/relationships/notesSlide" Target="/ppt/notesSlides/notesSlide2.xml" Id="Rdc05293cc57c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9343ab3184418e" /><Relationship Type="http://schemas.openxmlformats.org/officeDocument/2006/relationships/image" Target="/ppt/media/image3.png" Id="R92950ac3af564548" /><Relationship Type="http://schemas.openxmlformats.org/officeDocument/2006/relationships/notesSlide" Target="/ppt/notesSlides/notesSlide3.xml" Id="Ra1d2336813194d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7d24192cae4de1" /><Relationship Type="http://schemas.openxmlformats.org/officeDocument/2006/relationships/image" Target="/ppt/media/image4.png" Id="R435b8e263c694ce1" /><Relationship Type="http://schemas.openxmlformats.org/officeDocument/2006/relationships/image" Target="/ppt/media/image5.png" Id="R20765d3b5ed24621" /><Relationship Type="http://schemas.openxmlformats.org/officeDocument/2006/relationships/notesSlide" Target="/ppt/notesSlides/notesSlide4.xml" Id="R4dc1866594cb40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079a305f2409b" /><Relationship Type="http://schemas.openxmlformats.org/officeDocument/2006/relationships/image" Target="/ppt/media/image6.png" Id="R2aeaafa57bd242e1" /><Relationship Type="http://schemas.openxmlformats.org/officeDocument/2006/relationships/image" Target="/ppt/media/image7.png" Id="R3fa2c58ae6184bc5" /><Relationship Type="http://schemas.openxmlformats.org/officeDocument/2006/relationships/notesSlide" Target="/ppt/notesSlides/notesSlide5.xml" Id="Re82ecc8596e5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880f994334fc8" /><Relationship Type="http://schemas.openxmlformats.org/officeDocument/2006/relationships/image" Target="/ppt/media/image8.png" Id="R79a95371d6aa4e5a" /><Relationship Type="http://schemas.openxmlformats.org/officeDocument/2006/relationships/image" Target="/ppt/media/image9.png" Id="R0835eba1bf4e463f" /><Relationship Type="http://schemas.openxmlformats.org/officeDocument/2006/relationships/image" Target="/ppt/media/image10.png" Id="R4725908b0c7f464c" /><Relationship Type="http://schemas.openxmlformats.org/officeDocument/2006/relationships/image" Target="/ppt/media/image11.png" Id="Re260ada0ada5440e" /><Relationship Type="http://schemas.openxmlformats.org/officeDocument/2006/relationships/notesSlide" Target="/ppt/notesSlides/notesSlide6.xml" Id="Rd4744a118f034c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c0b42586bd42cb" /><Relationship Type="http://schemas.openxmlformats.org/officeDocument/2006/relationships/image" Target="/ppt/media/image12.png" Id="Rec490e3c0cf04fb8" /><Relationship Type="http://schemas.openxmlformats.org/officeDocument/2006/relationships/image" Target="/ppt/media/image13.png" Id="R46e5bef4bb3b47bd" /><Relationship Type="http://schemas.openxmlformats.org/officeDocument/2006/relationships/image" Target="/ppt/media/image14.png" Id="R45c92b700db4405d" /><Relationship Type="http://schemas.openxmlformats.org/officeDocument/2006/relationships/notesSlide" Target="/ppt/notesSlides/notesSlide7.xml" Id="Rc3e18854f47b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1df8a0b32f4c2a" /><Relationship Type="http://schemas.openxmlformats.org/officeDocument/2006/relationships/image" Target="/ppt/media/image15.png" Id="R4837fcb873da4da7" /><Relationship Type="http://schemas.openxmlformats.org/officeDocument/2006/relationships/notesSlide" Target="/ppt/notesSlides/notesSlide8.xml" Id="R9d8d23cb2be246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29B919-84FC-44CC-91F0-7EFD87A1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solidFill>
              <a:srgbClr val="F7F8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33142-C1C1-43E0-8AFC-30E1E9E8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33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6dc1ab3164956"/>
          <a:stretch xmlns:a="http://schemas.openxmlformats.org/drawingml/2006/main"/>
        </p:blipFill>
        <p:spPr>
          <a:xfrm xmlns:a="http://schemas.openxmlformats.org/drawingml/2006/main">
            <a:off x="685800" y="708080"/>
            <a:ext cx="742950" cy="73649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765E8-3E8A-4DE5-82A5-36854C44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D7E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D7E6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2330A-3B1B-4EF3-9458-F84A5EE0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JM Biology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5930F-E2B3-4B4E-98C7-85807AD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Biological data used in the joint jack mackerel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5498-77E3-4B51-83CA-83FE3214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D0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FD0DD"/>
                </a:solidFill>
                <a:latin typeface="Aptos"/>
                <a:ea typeface="Aptos"/>
                <a:cs typeface="Aptos"/>
              </a:rPr>
              <a:t>What was checked in model 1.14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F29F5-4FAE-49C5-9A0B-4087BDB0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33450"/>
            <a:ext cx="5429250" cy="45339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24C3-4261-4F70-A7C4-5798097B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57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Core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A968B-D983-4448-B188-1C55B8EB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57350"/>
            <a:ext cx="468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paper turns biology inputs from static model files into a reproducible audit: what is fixed, what differs by stock hypothesis, and where the Far North weight-at-age update needs benchmark attention.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D71E2-59FA-4F74-B991-AF5E4CA5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86150"/>
            <a:ext cx="1447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49BB8-80C0-4F5A-8FA0-5DBED50F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86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40270-3EC6-4B87-A97F-3C4631D3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D38849-35B7-471E-A8FE-2E6F80B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1.14.dat plus h1/h2 control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71ABB-C9C5-4DA0-A595-97216D9C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1447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5239C-6220-448E-99D1-6449CC5A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F6D"/>
          </a:solidFill>
          <a:ln xmlns:a="http://schemas.openxmlformats.org/drawingml/2006/main" w="0">
            <a:solidFill>
              <a:srgbClr val="4E9F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E2981-55DD-40AC-BA83-7F181402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B0289-C1FF-4B6B-AFB9-A0EC04D3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M, maturity, population WAA, fishery/index WAA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70F58D-A056-4844-B4C9-4DE87F7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447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A14DF-4456-473A-ABFB-55CFC067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C34"/>
          </a:solidFill>
          <a:ln xmlns:a="http://schemas.openxmlformats.org/drawingml/2006/main" w="0">
            <a:solidFill>
              <a:srgbClr val="D78C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FC624-FD40-4F87-A458-EBAF6B42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385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05C8E-65ED-4451-A56F-26CA158B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1085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Benchmark decisions and MSE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E04AE3-3FC0-4339-BEAE-0AA71997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C4016-314B-429D-968F-ACE4C602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</a:t>
            </a:r>
          </a:p>
        </p:txBody>
      </p:sp>
    </p:spTree>
    <p:extLst>
      <p:ext uri="{BB962C8B-B14F-4D97-AF65-F5344CB8AC3E}">
        <p14:creationId xmlns:p14="http://schemas.microsoft.com/office/powerpoint/2010/main" val="2138494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1EE5B-CF14-40B2-B340-14CE4F99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74b1a48cd4bc9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5AF5C-DFA9-405E-8CFD-A1D307E7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F1994-0E89-4C7C-8DE1-B89FDAA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Source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C3DF2-F838-4C1E-8719-239BB740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598E2-3DEE-4214-AF3A-F7613C3E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The review is anchored to model 1.14 source 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B0FC9-7DCA-4B4B-8ADD-4DD73098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same common data file feeds both stock hypotheses; control files determine the biological assumptions.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F8539-935F-4316-94B3-50F996DC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20C98-882F-4CE7-9A72-9D7A4242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7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83DD7-61DC-4796-8B5B-ACCDA783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33650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Common data file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34FE2-3FBA-4EE6-9696-B958378A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133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1.14.dat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Years 1970-2025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12 age classes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4 fisheries + 7 indices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Fishery/index weight-at-age arrays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EC15C-3D78-4AC0-AA55-9A04D5EE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7429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15CC8-AB9A-4085-866A-BE2C22D2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25146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59FC6-B131-4BAD-AF13-63E5760A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F6D"/>
          </a:solidFill>
          <a:ln xmlns:a="http://schemas.openxmlformats.org/drawingml/2006/main" w="0">
            <a:solidFill>
              <a:srgbClr val="4E9F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41097-DEB9-43CE-9029-A0B390B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h1_1.14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C348B-91AB-4A04-9327-CAA2FF99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86000"/>
            <a:ext cx="2171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Single-stock hypothesis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M value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maturity vector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One population WAA vector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A01EC-8D03-4045-90F3-19D0C57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25146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C84CE-3AF1-4A61-B4B1-C0DFF1B6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24250"/>
            <a:ext cx="2514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C34"/>
          </a:solidFill>
          <a:ln xmlns:a="http://schemas.openxmlformats.org/drawingml/2006/main" w="0">
            <a:solidFill>
              <a:srgbClr val="D78C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8010A-CDB1-476A-B498-834C88B5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h2_1.14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AF3F2-047F-4B5F-B79D-F94E8703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19550"/>
            <a:ext cx="2171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Two-stock hypothesis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Stock-specific M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Stock-specific maturity</a:t>
            </a:r>
          </a:p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Stock-specific population WAA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9CCEA-5940-495D-95B1-65937E8D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74295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F434D-0B6E-4919-9792-530DFC12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857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21761-50FF-43B9-A779-A9117A8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FE4CF-69A6-481B-8980-AE4338FB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Reproducible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BE8EE-A8DA-42D9-91CA-4BC86A37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19400"/>
            <a:ext cx="2514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Summaries, tables, correlation diagnostics, and fitted spawning-biomass contribution are generated directly from model inputs and outputs.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F379E-BFE9-47CB-8549-FD57BABE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722B9-7AEF-4F94-A953-8148BF0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2014558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CB2B9-18ED-41A4-B458-9DB92C61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50ac3af564548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E6010-15A0-4BA6-9F2B-DD3C9A21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444ED-7DBC-476C-ABE3-F137A6D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M and maturity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13305-C515-4863-AE9A-5C78E01D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A7B0B-4738-44F3-B3E3-6B4A2E94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Biological assumptions diverge under the two-stock hypothesis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EB922-A045-4592-B0A3-1AE62AD4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single-stock model uses Stock 1 biology; h2 separates Stock 1 and Stock 2 natural mortality, maturity, and population WAA.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FA381-3FC5-4A6C-BFDC-855C1DD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8FAD4-122F-4907-B2C5-64EC25BB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0.28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A2EF4-77E6-481F-AE52-D6DE7B58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Natural mortality: h1 and h2 Stock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49091-140E-4443-92C4-62439A7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Configured under #N_Mort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41833-7CF3-49E3-BBE8-EB29ECF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52E82-444A-4C89-8ED4-8E2D719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78C3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78C34"/>
                </a:solidFill>
                <a:latin typeface="Aptos"/>
                <a:ea typeface="Aptos"/>
                <a:cs typeface="Aptos"/>
              </a:rPr>
              <a:t>0.33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AD09F-76C1-4163-8AA0-0088E182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Natural mortality: h2 Stock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C87D7-4C0C-4503-AFF2-7148045A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Stock-specific 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83831-66AE-43D1-B23D-8F21A765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8F1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135CF1-DC01-4D6C-ACEE-58F794D4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E9F6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4E9F6D"/>
                </a:solidFill>
                <a:latin typeface="Aptos"/>
                <a:ea typeface="Aptos"/>
                <a:cs typeface="Aptos"/>
              </a:rPr>
              <a:t>10.5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731EA-B5D4-4795-A321-D65D6A5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Spawning month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47E03-1CC9-420D-BC34-7CD07CE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289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32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SSB calculated after 0.792 of annual mortality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C898B4-0712-4B73-8ACE-63A04E8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286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EADF8-66C9-48B1-8FDE-E467E2CC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836271-A4DD-4750-BF2F-091E6A5B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908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Age classes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AE4E3C-C8B6-43AE-A63E-7F640BE0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Includes age-12 plus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16677-5FC8-4C15-9B37-F321BBC1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2D90C-3B44-49C8-A840-04C8630B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8598C-C626-4E3B-9165-9DA6373B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Stock 1 maturity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C4F8A-0732-442B-BE4B-EEF69080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4400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Age 1 is partially mature (0.52); ages 2+ are fully mature. This schedule is also used by the single-stock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45CBBC-EF6C-4380-949C-F1483AA4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4762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98431-E966-48F7-B99B-8755BE8E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243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C34"/>
          </a:solidFill>
          <a:ln xmlns:a="http://schemas.openxmlformats.org/drawingml/2006/main" w="0">
            <a:solidFill>
              <a:srgbClr val="D78C3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6E5A7-1491-4B5B-BB32-4F7E6AF1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Stock 2 maturity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FCEAF3-98BB-4D6C-AD0D-7B59DC0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4400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Age 1 is immature, age 2 is partial (0.37), age 3 is near mature (0.98), and ages 4+ are mature.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29AB7-4138-498D-BF68-718DC527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DCD75D-E0F3-42C0-A5B4-1E62FD5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295301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461E70-AF25-4700-B573-881ED75E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b8e263c694ce1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CB583-019C-49FA-82A1-189BCC93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4911D-388D-44F8-9FD9-518DE65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Spawning biomass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830A8-743E-4ECF-89FE-D86E73BC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395B8-B4FE-4410-B4AD-7E523726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The paper makes the SSB calculation explicit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81DD7-4C0B-4137-80BC-1D166F8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Spawning biomass is tied to numbers-at-age, survival to the spawning month, population weight-at-age, and maturity-at-age.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A502B-1011-49A5-98C4-41FAEEDA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462915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544F8-3047-40A4-AA76-D12C410A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SSB ingredient chain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E9C29-3F7C-4D2C-949C-EB19DF6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N at 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078F8-C4F1-42F6-B3E3-A7E4A618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838450"/>
            <a:ext cx="476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C1F06-46F2-4DFB-B290-28F3598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E9F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9F6D"/>
                </a:solidFill>
                <a:latin typeface="Aptos"/>
                <a:ea typeface="Aptos"/>
                <a:cs typeface="Aptos"/>
              </a:rPr>
              <a:t>Survival to</a:t>
            </a:r>
          </a:p>
          <a:p xmlns:a="http://schemas.openxmlformats.org/drawingml/2006/main">
            <a:pPr algn="ctr">
              <a:defRPr sz="1125" b="1">
                <a:solidFill>
                  <a:srgbClr val="4E9F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9F6D"/>
                </a:solidFill>
                <a:latin typeface="Aptos"/>
                <a:ea typeface="Aptos"/>
                <a:cs typeface="Aptos"/>
              </a:rPr>
              <a:t>spawn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10058-5158-42BF-8682-47BA51E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38450"/>
            <a:ext cx="476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A7033-EA12-42DE-9D24-D5D71A26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876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8C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8C34"/>
                </a:solidFill>
                <a:latin typeface="Aptos"/>
                <a:ea typeface="Aptos"/>
                <a:cs typeface="Aptos"/>
              </a:rPr>
              <a:t>WAA x</a:t>
            </a:r>
          </a:p>
          <a:p xmlns:a="http://schemas.openxmlformats.org/drawingml/2006/main">
            <a:pPr algn="ctr">
              <a:defRPr sz="1125" b="1">
                <a:solidFill>
                  <a:srgbClr val="D78C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8C34"/>
                </a:solidFill>
                <a:latin typeface="Aptos"/>
                <a:ea typeface="Aptos"/>
                <a:cs typeface="Aptos"/>
              </a:rPr>
              <a:t>maturity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21C0AB-AE89-4A9B-813E-5055700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Population WAA is fixed by stock in the control file; fishery/index WAA arrays are used for predicted catch and index biomass, not for SSB.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65d3b5ed24621"/>
          <a:stretch xmlns:a="http://schemas.openxmlformats.org/drawingml/2006/main"/>
        </p:blipFill>
        <p:spPr>
          <a:xfrm xmlns:a="http://schemas.openxmlformats.org/drawingml/2006/main">
            <a:off x="5981700" y="2043793"/>
            <a:ext cx="5048250" cy="288471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53663-DD82-4168-BE75-63F0B2C3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Age-specific spawning biomass per recruit highlights that h2 biology is not interchangeable between stocks.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73C06-D975-48D4-BF6C-75E8F649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9F26C-3999-49EB-85A9-BC005E0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14473230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3BBFC-4417-4646-825E-6D05EE90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aafa57bd242e1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7C41E-43D8-4D34-ABF4-84195D2B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2AFF7-9B4F-41DD-A9B7-4BA2FF94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Weight-at-age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8509D-6C44-4854-9AE3-E3DC4963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3D3EF-9376-431E-9A94-FD04582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Weight-at-age is the central update in model 1.14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D3A3C-1397-4122-8DCD-C606653C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defining change from 1.13 is an update to historical Far North weight-at-age, so the paper treats WAA as the main biological data issue.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E9120-78F9-43A5-9601-B76A497D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800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03104-CA86-404F-92C9-10CD7A6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67D9C-AEFC-4665-B178-D0A76DD0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What was separated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7073E-0650-4360-9462-2E0E795E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438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Population WAA used for SSB vs. time-varying fishery and index WAA used for catch/index biomass.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788CD-B63B-4410-91F4-CEA686BF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800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F9BF4-611B-4965-B48E-4356BD6C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F6D"/>
          </a:solidFill>
          <a:ln xmlns:a="http://schemas.openxmlformats.org/drawingml/2006/main" w="0">
            <a:solidFill>
              <a:srgbClr val="4E9F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7ED97-0049-4B41-8B8F-2615DEC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What was compared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C2A33-374C-48EE-AC98-431D83A8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2438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Fishery and acoustic-survey WAA sources by age, excluding duplicated CPUE and DEPM series.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A27BD-51AB-4A89-8C9B-726D959E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2800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E0F04-6CB8-4A32-983E-44E87FE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C34"/>
          </a:solidFill>
          <a:ln xmlns:a="http://schemas.openxmlformats.org/drawingml/2006/main" w="0">
            <a:solidFill>
              <a:srgbClr val="D78C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16DFF-C6B8-40CD-8611-956BC97B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438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What still needs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0E2F3-B0C0-4490-9702-BDB1DB0F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438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Explicit comparison with model 1.13 and interpretation of how Far North updates affect biomass signals.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2c58ae6184bc5"/>
          <a:stretch xmlns:a="http://schemas.openxmlformats.org/drawingml/2006/main"/>
        </p:blipFill>
        <p:spPr>
          <a:xfrm xmlns:a="http://schemas.openxmlformats.org/drawingml/2006/main">
            <a:off x="5066418" y="1619250"/>
            <a:ext cx="5011914" cy="44005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0782F-5327-4F38-BA67-E8F83084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201B4-96BF-4C6A-AFAD-8FE44C8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1065129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BC324-1FBD-4F35-A9F6-617A73CD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95371d6aa4e5a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91381-4124-4F7F-B468-F9F3BE0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8FF5A-C129-45D0-A81B-CFF265EF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Correlation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305E-FA76-4CCB-A47E-A268ADD6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5A10C-9762-44AA-B0FD-3006B5E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Cross-source WAA signals are generally modest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F8C60-3BB3-441F-86E3-F0358F26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diagnostics show low average pairwise correlations by age, with some strong pairs reflecting shared sampling and imputation histories.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5eba1bf4e463f"/>
          <a:stretch xmlns:a="http://schemas.openxmlformats.org/drawingml/2006/main"/>
        </p:blipFill>
        <p:spPr>
          <a:xfrm xmlns:a="http://schemas.openxmlformats.org/drawingml/2006/main">
            <a:off x="704850" y="1791295"/>
            <a:ext cx="4629150" cy="2989659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5908b0c7f464c"/>
          <a:stretch xmlns:a="http://schemas.openxmlformats.org/drawingml/2006/main"/>
        </p:blipFill>
        <p:spPr>
          <a:xfrm xmlns:a="http://schemas.openxmlformats.org/drawingml/2006/main">
            <a:off x="5753100" y="1968012"/>
            <a:ext cx="2552700" cy="2159977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0ada0ada5440e"/>
          <a:stretch xmlns:a="http://schemas.openxmlformats.org/drawingml/2006/main"/>
        </p:blipFill>
        <p:spPr>
          <a:xfrm xmlns:a="http://schemas.openxmlformats.org/drawingml/2006/main">
            <a:off x="8591550" y="1968012"/>
            <a:ext cx="2552700" cy="215997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47DBD-2240-4DAA-AC6E-85019C01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99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9449E-3F7A-46D0-BEF6-E5F4E8C6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solidFill>
              <a:srgbClr val="2E74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19448-9FA3-4725-A13D-F56FEB4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Age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4B3CC-ED31-45A9-81C1-FE804AA9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435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Median pairwise r = 0.04; 8 negative pairs among 21 source pairs.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F1DF0-C8F0-4C5E-8D7C-B668D7F8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86350"/>
            <a:ext cx="299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F00C9-8D0D-478E-BC18-21CEA056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86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F6D"/>
          </a:solidFill>
          <a:ln xmlns:a="http://schemas.openxmlformats.org/drawingml/2006/main" w="0">
            <a:solidFill>
              <a:srgbClr val="4E9F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FB467-6918-4CD0-BDEA-14A17663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2387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Age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89330-B967-4D66-9548-034DC1A2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5435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Highest mean pairwise correlation, but median remains low at 0.05.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36E9D-18CC-4CAB-BCDC-E348F38E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86350"/>
            <a:ext cx="29908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B09E1-3614-4266-98A7-86C2070C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863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8C34"/>
          </a:solidFill>
          <a:ln xmlns:a="http://schemas.openxmlformats.org/drawingml/2006/main" w="0">
            <a:solidFill>
              <a:srgbClr val="D78C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DAC36-23CA-49A6-BE16-7AF628E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41521-2605-4F7F-B98B-16D2DD29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435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Correlation structure is diagnostic, not a decision by itself; source provenance matters.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FD6C3A-20A0-4C4D-8A0E-C69A0A05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67A55-01F4-4532-9ED0-EDAB4B16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1728965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C7648A-F5E4-44FC-B879-4D7139EA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90e3c0cf04fb8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16FEF-6F86-4D49-923E-55CDFE4F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0349F-6C5D-4C18-9956-0F272854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Fitted h2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FD38-0D7E-4673-810A-6EF31894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BDBFA-3617-457C-9486-B1B7F02A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Fitted h2 spawning biomass shows age and stock structure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902ED-EF6C-4EC0-800B-744E09AB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paper carries biology through to fitted SSB contribution so the implications are visible, not only listed as input vectors.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5bef4bb3b47bd"/>
          <a:stretch xmlns:a="http://schemas.openxmlformats.org/drawingml/2006/main"/>
        </p:blipFill>
        <p:spPr>
          <a:xfrm xmlns:a="http://schemas.openxmlformats.org/drawingml/2006/main">
            <a:off x="1442357" y="2019300"/>
            <a:ext cx="4049486" cy="35433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92b700db4405d"/>
          <a:stretch xmlns:a="http://schemas.openxmlformats.org/drawingml/2006/main"/>
        </p:blipFill>
        <p:spPr>
          <a:xfrm xmlns:a="http://schemas.openxmlformats.org/drawingml/2006/main">
            <a:off x="6792383" y="2152650"/>
            <a:ext cx="4436533" cy="2495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AB3F0-60C8-46A6-9C86-2AC102DF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1490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Stock 1 has broader age contribution; Stock 2 is shifted older because early ages mature later.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DD5F4-CC0D-417D-8211-6B378DB6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530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stock-scale figure helps separate biological contribution from relative stock scale in h2.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F96F8-EEE4-466C-BD7C-1424D033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FA38D-CC7E-4C5F-8A31-8C511E7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726954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CC2DA-F6E0-48A9-8186-9BE5749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B2545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7fcb873da4da7"/>
          <a:stretch xmlns:a="http://schemas.openxmlformats.org/drawingml/2006/main"/>
        </p:blipFill>
        <p:spPr>
          <a:xfrm xmlns:a="http://schemas.openxmlformats.org/drawingml/2006/main">
            <a:off x="285750" y="87133"/>
            <a:ext cx="323850" cy="3210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271A4-DE74-4E70-AD38-F7F24D9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SCW16 / Paper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DF0B1-E9B5-41D0-94AE-F95A15D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2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Day 3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F49DF-6936-4426-8E02-0BB830B6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2382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ACF14-A6B3-4BAE-894C-0C2E867D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What Day 3 needs to decide from the biology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3CE3F-2978-4576-8A04-A98BC6C2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The paper is ready to support benchmark decisions if the group converts checks into accepted inputs and targeted sensitivities.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7A831-FE6B-423E-BCFE-201466D1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9930E-F40C-49A3-879F-FD0ABF98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1. Confirm base biology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450F1-C979-4377-823F-3A4D2466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Are the model 1.14 M, maturity, spawning month, and population WAA inputs acceptable for the base benchmark model?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0C82C-2163-4670-8670-B500586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1F663-8FDB-48C2-8A08-AE634C08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8C3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8C34"/>
                </a:solidFill>
                <a:latin typeface="Aptos"/>
                <a:ea typeface="Aptos"/>
                <a:cs typeface="Aptos"/>
              </a:rPr>
              <a:t>2. Compare 1.13 vs 1.14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8B9ED-90EA-402A-A674-8628B49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Quantify and explain the historical Far North WAA update before treating it as settled input.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572AB-51E7-4D02-B72C-16631EB0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65A79-25D3-4A84-8426-DABD3B73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21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4A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4A3B"/>
                </a:solidFill>
                <a:latin typeface="Aptos"/>
                <a:ea typeface="Aptos"/>
                <a:cs typeface="Aptos"/>
              </a:rPr>
              <a:t>3. Define sensitivities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F7F33-D2B6-4765-9402-EFB530E6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Identify plausible alternatives for M, maturity, and WAA that affect SSB or reference points.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6B3D5-A02D-4D8C-A0DF-3F984826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C4618-73A0-4BF8-849F-F64460CF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9F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E9F6D"/>
                </a:solidFill>
                <a:latin typeface="Aptos"/>
                <a:ea typeface="Aptos"/>
                <a:cs typeface="Aptos"/>
              </a:rPr>
              <a:t>4. Link Peru papers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7938B-E0BA-4A27-A6E1-E2337518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Connect Doc13 length-weight and Doc14 length-frequency evidence to Far North biology/composition treatment.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848F7-F28F-4268-9F24-C65A3A81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AA8AD-F458-4554-94AC-3C1CBEB2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528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5. Update report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A4BBA-AA97-4649-99B1-A4355A17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Move from placeholders to clear accepted inputs, caveats, and follow-up owners.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ADB32-0514-4D77-84D2-38277B9F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3238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3C7C8-9759-4166-B60D-324BA4A2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6. MSE 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93D8C-DED5-4F9E-8B04-184E06E5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9550"/>
            <a:ext cx="2895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State which biology uncertainty dimensions should condition June 2026 operating-model work.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4FA793-045D-4E1A-BFA1-77838A1E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Recommended closeout: accept model 1.14 biology where documented, run only high-value sensitivities, and keep the Far North WAA comparison as the critical unresolved check.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E0FD7-7292-40DB-B2FC-DAA9830F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84724A-7CF7-4D92-9107-E22E7F04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SCW16-Doc05_JM_Biology.qmd; model 1.14 inputs from jjm/assessment</a:t>
            </a:r>
          </a:p>
        </p:txBody>
      </p:sp>
    </p:spTree>
    <p:extLst>
      <p:ext uri="{BB962C8B-B14F-4D97-AF65-F5344CB8AC3E}">
        <p14:creationId xmlns:p14="http://schemas.microsoft.com/office/powerpoint/2010/main" val="751126976"/>
      </p:ext>
    </p:extLst>
  </p:cSld>
</p:sld>
</file>

<file path=ppt/theme/theme1.xml><?xml version="1.0" encoding="utf-8"?>
<a:theme xmlns:a="http://schemas.openxmlformats.org/drawingml/2006/main" name="SPRFMO quiet technical">
  <a:themeElements>
    <a:clrScheme name="SPRFMO quiet technical">
      <a:accent1>
        <a:srgbClr val="2E74B5"/>
      </a:accent1>
      <a:accent2>
        <a:srgbClr val="5AB7C8"/>
      </a:accent2>
      <a:accent3>
        <a:srgbClr val="4E9F6D"/>
      </a:accent3>
      <a:accent4>
        <a:srgbClr val="D78C34"/>
      </a:accent4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PRFMO quiet technic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2026-05-20T13:25:19.1700000Z</dcterms:created>
  <dcterms:modified xsi:type="dcterms:W3CDTF">2026-05-20T13:25:19.1700000Z</dcterms:modified>
</coreProperties>
</file>